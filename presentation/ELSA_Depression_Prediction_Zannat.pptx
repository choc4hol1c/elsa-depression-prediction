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6256000" cy="9144000"/>
  <p:notesSz cx="9144000" cy="16256000"/>
  <p:embeddedFontLst>
    <p:embeddedFont>
      <p:font typeface="Liter" charset="-122" pitchFamily="34"/>
      <p:regular r:id="rId20"/>
    </p:embeddedFont>
    <p:embeddedFont>
      <p:font typeface="Quattrocento Sans" charset="-122" pitchFamily="34"/>
      <p:regular r:id="rId21"/>
    </p:embeddedFont>
    <p:embeddedFont>
      <p:font typeface="Oranienbaum" charset="-122" pitchFamily="34"/>
      <p:regular r:id="rId22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font" Target="fonts/font1.fntdata"/><Relationship Id="rId21" Type="http://schemas.openxmlformats.org/officeDocument/2006/relationships/font" Target="fonts/font2.fntdata"/><Relationship Id="rId22" Type="http://schemas.openxmlformats.org/officeDocument/2006/relationships/font" Target="fonts/font3.fnt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</c:v>
                </c:pt>
              </c:strCache>
            </c:strRef>
          </c:tx>
          <c:spPr>
            <a:solidFill>
              <a:srgbClr val="0D8A6E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Full (138)</c:v>
                  </c:pt>
                  <c:pt idx="1">
                    <c:v>No CES-D (129)</c:v>
                  </c:pt>
                  <c:pt idx="2">
                    <c:v>Health only (24)</c:v>
                  </c:pt>
                  <c:pt idx="3">
                    <c:v>Func/Cog (17)</c:v>
                  </c:pt>
                  <c:pt idx="4">
                    <c:v>Socioecon (24)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0.000</c:formatCode>
                <c:ptCount val="5"/>
                <c:pt idx="0">
                  <c:v>0.848</c:v>
                </c:pt>
                <c:pt idx="1">
                  <c:v>0.773</c:v>
                </c:pt>
                <c:pt idx="2">
                  <c:v>0.75</c:v>
                </c:pt>
                <c:pt idx="3">
                  <c:v>0.74</c:v>
                </c:pt>
                <c:pt idx="4">
                  <c:v>0.72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5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AUC Drop</c:v>
                </c:pt>
              </c:strCache>
            </c:strRef>
          </c:tx>
          <c:spPr>
            <a:solidFill>
              <a:srgbClr val="C94F2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Prior depression</c:v>
                  </c:pt>
                  <c:pt idx="1">
                    <c:v>Self-rated health</c:v>
                  </c:pt>
                  <c:pt idx="2">
                    <c:v>Chronic conditions</c:v>
                  </c:pt>
                  <c:pt idx="3">
                    <c:v>Mobility/function</c:v>
                  </c:pt>
                  <c:pt idx="4">
                    <c:v>Cognition</c:v>
                  </c:pt>
                  <c:pt idx="5">
                    <c:v>Socioeconomic</c:v>
                  </c:pt>
                  <c:pt idx="6">
                    <c:v>Social/housing</c:v>
                  </c:pt>
                  <c:pt idx="7">
                    <c:v>Lifestyle/digital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0.000</c:formatCode>
                <c:ptCount val="8"/>
                <c:pt idx="0">
                  <c:v>0.077</c:v>
                </c:pt>
                <c:pt idx="1">
                  <c:v>0.005</c:v>
                </c:pt>
                <c:pt idx="2">
                  <c:v>0.001</c:v>
                </c:pt>
                <c:pt idx="3">
                  <c:v>0.001</c:v>
                </c:pt>
                <c:pt idx="4">
                  <c:v>0</c:v>
                </c:pt>
                <c:pt idx="5">
                  <c:v>0.001</c:v>
                </c:pt>
                <c:pt idx="6">
                  <c:v>0.001</c:v>
                </c:pt>
                <c:pt idx="7">
                  <c:v>0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09"/>
          <c:min val="0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With CES-D</c:v>
                </c:pt>
              </c:strCache>
            </c:strRef>
          </c:tx>
          <c:spPr>
            <a:solidFill>
              <a:srgbClr val="5A8FA8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W6 only</c:v>
                  </c:pt>
                  <c:pt idx="1">
                    <c:v>W7 only</c:v>
                  </c:pt>
                  <c:pt idx="2">
                    <c:v>W6+W7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0.000</c:formatCode>
                <c:ptCount val="3"/>
                <c:pt idx="0">
                  <c:v>0.819</c:v>
                </c:pt>
                <c:pt idx="1">
                  <c:v>0.824</c:v>
                </c:pt>
                <c:pt idx="2">
                  <c:v>0.848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CES-D</c:v>
                </c:pt>
              </c:strCache>
            </c:strRef>
          </c:tx>
          <c:spPr>
            <a:solidFill>
              <a:srgbClr val="C94F2C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W6 only</c:v>
                  </c:pt>
                  <c:pt idx="1">
                    <c:v>W7 only</c:v>
                  </c:pt>
                  <c:pt idx="2">
                    <c:v>W6+W7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0.000</c:formatCode>
                <c:ptCount val="3"/>
                <c:pt idx="0">
                  <c:v>0.739</c:v>
                </c:pt>
                <c:pt idx="1">
                  <c:v>0.769</c:v>
                </c:pt>
                <c:pt idx="2">
                  <c:v>0.773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"/>
          <c:min val="0.65"/>
        </c:scaling>
        <c:delete val="0"/>
        <c:axPos val="l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solidFill>
                <a:srgbClr val="8C9BAB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Coefficient</c:v>
                </c:pt>
              </c:strCache>
            </c:strRef>
          </c:tx>
          <c:spPr>
            <a:solidFill>
              <a:srgbClr val="0D8A6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cesd_sc (W7)</c:v>
                  </c:pt>
                  <c:pt idx="1">
                    <c:v>cesd_sc (W6)</c:v>
                  </c:pt>
                  <c:pt idx="2">
                    <c:v>hemob96 (W6)</c:v>
                  </c:pt>
                  <c:pt idx="3">
                    <c:v>totwq5_bu_s</c:v>
                  </c:pt>
                  <c:pt idx="4">
                    <c:v>findiff (W7)</c:v>
                  </c:pt>
                  <c:pt idx="5">
                    <c:v>sex (W7)</c:v>
                  </c:pt>
                  <c:pt idx="6">
                    <c:v>heactb (W7)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0.00</c:formatCode>
                <c:ptCount val="7"/>
                <c:pt idx="0">
                  <c:v>0.89</c:v>
                </c:pt>
                <c:pt idx="1">
                  <c:v>0.7</c:v>
                </c:pt>
                <c:pt idx="2">
                  <c:v>0.49</c:v>
                </c:pt>
                <c:pt idx="3">
                  <c:v>0.34</c:v>
                </c:pt>
                <c:pt idx="4">
                  <c:v>0.32</c:v>
                </c:pt>
                <c:pt idx="5">
                  <c:v>0.27</c:v>
                </c:pt>
                <c:pt idx="6">
                  <c:v>0.22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b"/>
        <c:majorGridlines>
          <c:spPr>
            <a:ln w="12700" cap="flat">
              <a:solidFill>
                <a:srgbClr val="fffff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FFFFFF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C9BA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image" Target="../media/image-11-1.pn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gradFill rotWithShape="1" flip="none">
          <a:gsLst>
            <a:gs pos="0">
              <a:srgbClr val="071525"/>
            </a:gs>
            <a:gs pos="100000">
              <a:srgbClr val="0D2540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335000" y="381000"/>
            <a:ext cx="254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>
              <a:lnSpc>
                <a:spcPct val="140000"/>
              </a:lnSpc>
            </a:pPr>
            <a:r>
              <a:rPr lang="en-US" sz="1000" dirty="0">
                <a:solidFill>
                  <a:srgbClr val="8C9BA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AI &amp; HEALTHCARE</a:t>
            </a:r>
            <a:endParaRPr lang="en-US" sz="1000" dirty="0"/>
          </a:p>
          <a:p>
            <a:pPr algn="r">
              <a:lnSpc>
                <a:spcPct val="140000"/>
              </a:lnSpc>
            </a:pPr>
            <a:r>
              <a:rPr lang="en-US" sz="1000" dirty="0">
                <a:solidFill>
                  <a:srgbClr val="8C9BA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SURREY 2025/26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1016000" y="2286000"/>
            <a:ext cx="635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Group Project — AI and Healthcare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16000" y="2667000"/>
            <a:ext cx="889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4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ELSA</a:t>
            </a:r>
            <a:endParaRPr lang="en-US" sz="4400" dirty="0"/>
          </a:p>
          <a:p>
            <a:pPr>
              <a:lnSpc>
                <a:spcPct val="110000"/>
              </a:lnSpc>
            </a:pPr>
            <a:r>
              <a:rPr lang="en-US" sz="44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Depression Prediction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16000" y="4191000"/>
            <a:ext cx="889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8C9BAB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Early prediction of depression onset in older English adults using machine learning on longitudinal survey data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6000" y="5080000"/>
            <a:ext cx="2540000" cy="355600"/>
          </a:xfrm>
          <a:prstGeom prst="roundRect">
            <a:avLst>
              <a:gd name="adj" fmla="val 15000"/>
            </a:avLst>
          </a:prstGeom>
          <a:solidFill>
            <a:srgbClr val="0D8A6E">
              <a:alpha val="30196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6000" y="5080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English Longitudinal Study of Ageing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83000" y="5080000"/>
            <a:ext cx="1651000" cy="355600"/>
          </a:xfrm>
          <a:prstGeom prst="roundRect">
            <a:avLst>
              <a:gd name="adj" fmla="val 15000"/>
            </a:avLst>
          </a:prstGeom>
          <a:solidFill>
            <a:srgbClr val="0D8A6E">
              <a:alpha val="30196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83000" y="50800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UKDS Study 5050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0" y="5080000"/>
            <a:ext cx="1651000" cy="355600"/>
          </a:xfrm>
          <a:prstGeom prst="roundRect">
            <a:avLst>
              <a:gd name="adj" fmla="val 15000"/>
            </a:avLst>
          </a:prstGeom>
          <a:solidFill>
            <a:srgbClr val="0D8A6E">
              <a:alpha val="30196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5080000"/>
            <a:ext cx="1651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Banks et al. 2006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16000" y="5715000"/>
            <a:ext cx="4064000" cy="2667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9200" y="5842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Team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19200" y="6172200"/>
            <a:ext cx="3683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Akeeb Lawel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Fiyin Akano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Zannat Chowdhury Sagar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Giridhar Nampally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Pushkar Jadav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Poorna Golla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334000" y="5715000"/>
            <a:ext cx="4064000" cy="2540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37200" y="5842000"/>
            <a:ext cx="152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At a glance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7200" y="6172200"/>
            <a:ext cx="36830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7,211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participants (W6/W7/W8)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19%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depression prevalence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 arms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60</a:t>
            </a:r>
            <a:pPr>
              <a:lnSpc>
                <a:spcPct val="16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 model combinations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AUC </a:t>
            </a:r>
            <a:pPr>
              <a:lnSpc>
                <a:spcPct val="16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0.848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430000" y="0"/>
            <a:ext cx="0" cy="914400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12700000" y="0"/>
            <a:ext cx="0" cy="914400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11430000" y="2540000"/>
            <a:ext cx="4826000" cy="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  <p:sp>
        <p:nvSpPr>
          <p:cNvPr id="21" name="Shape 19"/>
          <p:cNvSpPr/>
          <p:nvPr/>
        </p:nvSpPr>
        <p:spPr>
          <a:xfrm>
            <a:off x="11430000" y="5080000"/>
            <a:ext cx="4826000" cy="0"/>
          </a:xfrm>
          <a:prstGeom prst="straightConnector1">
            <a:avLst/>
          </a:prstGeom>
          <a:noFill/>
          <a:ln w="12700">
            <a:solidFill>
              <a:srgbClr val="FFFFFF">
                <a:alpha val="3137"/>
              </a:srgbClr>
            </a:solidFill>
            <a:prstDash val="solid"/>
            <a:headEnd type="none"/>
            <a:tailEnd type="none"/>
          </a:ln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rotWithShape="1" flip="none">
          <a:gsLst>
            <a:gs pos="0">
              <a:srgbClr val="0A1F35"/>
            </a:gs>
            <a:gs pos="100000">
              <a:srgbClr val="0F2D4A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Motivation and research questions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Why early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depression screening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matters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7366000" cy="2540000"/>
          </a:xfrm>
          <a:prstGeom prst="roundRect">
            <a:avLst>
              <a:gd name="adj" fmla="val 8000"/>
            </a:avLst>
          </a:prstGeom>
          <a:solidFill>
            <a:srgbClr val="1A4168">
              <a:alpha val="40000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460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Clinical context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1778000"/>
            <a:ext cx="69596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Depression affects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10–15%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English adults aged 50+ (Banks et al. 2006)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Diagnosis typically occurs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symptoms become severe, delaying intervention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existing population-level early-warning tool based on routine survey data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ELSA captures health, function, cognition, socioeconomic and lifestyle variables at two-year intervals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09600" y="4064000"/>
            <a:ext cx="7366000" cy="15875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4165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Our approach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800" y="4445000"/>
            <a:ext cx="69596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Train ML models on non-clinical ELSA survey variables at Waves 6 and 7 to predict CES-D depression status at Wave 8 — 2 to 4 years in advance.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82000" y="1333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Research questions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382000" y="1714500"/>
            <a:ext cx="7264400" cy="952500"/>
          </a:xfrm>
          <a:prstGeom prst="roundRect">
            <a:avLst>
              <a:gd name="adj" fmla="val 8000"/>
            </a:avLst>
          </a:prstGeom>
          <a:solidFill>
            <a:srgbClr val="0D8A6E">
              <a:alpha val="7059"/>
            </a:srgbClr>
          </a:solidFill>
          <a:ln w="12700">
            <a:solidFill>
              <a:srgbClr val="0FB38D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34400" y="1841500"/>
            <a:ext cx="609600" cy="279400"/>
          </a:xfrm>
          <a:prstGeom prst="roundRect">
            <a:avLst>
              <a:gd name="adj" fmla="val 15000"/>
            </a:avLst>
          </a:prstGeom>
          <a:solidFill>
            <a:srgbClr val="0D8A6E">
              <a:alpha val="30196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534400" y="1841500"/>
            <a:ext cx="609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71000" y="18034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Can ML models trained on ELSA survey data predict depression onset 2 to 4 years in advance in adults aged 50 and over?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82000" y="2819400"/>
            <a:ext cx="7264400" cy="9525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534400" y="2946400"/>
            <a:ext cx="609600" cy="279400"/>
          </a:xfrm>
          <a:prstGeom prst="roundRect">
            <a:avLst>
              <a:gd name="adj" fmla="val 15000"/>
            </a:avLst>
          </a:prstGeom>
          <a:solidFill>
            <a:srgbClr val="C9973A">
              <a:alpha val="25098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534400" y="2946400"/>
            <a:ext cx="609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A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271000" y="2908300"/>
            <a:ext cx="6223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Does longitudinal data across two waves improve prediction over single-wave models, and does prediction horizon length affect accuracy?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3924300"/>
            <a:ext cx="7264400" cy="1524000"/>
          </a:xfrm>
          <a:prstGeom prst="roundRect">
            <a:avLst>
              <a:gd name="adj" fmla="val 8000"/>
            </a:avLst>
          </a:prstGeom>
          <a:solidFill>
            <a:srgbClr val="C94F2C">
              <a:alpha val="7059"/>
            </a:srgbClr>
          </a:solidFill>
          <a:ln w="12700">
            <a:solidFill>
              <a:srgbClr val="E8674A">
                <a:alpha val="30196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34400" y="4051300"/>
            <a:ext cx="609600" cy="279400"/>
          </a:xfrm>
          <a:prstGeom prst="roundRect">
            <a:avLst>
              <a:gd name="adj" fmla="val 15000"/>
            </a:avLst>
          </a:prstGeom>
          <a:solidFill>
            <a:srgbClr val="C94F2C">
              <a:alpha val="25098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534400" y="4051300"/>
            <a:ext cx="609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E86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71000" y="4013200"/>
            <a:ext cx="6223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Which feature domains carry independent predictive signal beyond prior depression history, and does the model retain meaningful accuracy without prior depression scores?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09600" y="5334000"/>
            <a:ext cx="15036800" cy="0"/>
          </a:xfrm>
          <a:prstGeom prst="straightConnector1">
            <a:avLst/>
          </a:prstGeom>
          <a:noFill/>
          <a:ln w="12700">
            <a:solidFill>
              <a:srgbClr val="FFFFFF">
                <a:alpha val="7059"/>
              </a:srgbClr>
            </a:solidFill>
            <a:prstDash val="solid"/>
            <a:headEnd type="none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rotWithShape="1" flip="none">
          <a:gsLst>
            <a:gs pos="0">
              <a:srgbClr val="0A1F35"/>
            </a:gs>
            <a:gs pos="100000">
              <a:srgbClr val="0F2D4A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— ELSA and wave selection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016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Building on a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robust longitudinal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cohort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4699000" cy="33655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460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Wave selection rationale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800" y="1778000"/>
            <a:ext cx="42926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Waves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6, 7, 8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have the highest 3-wave consecutive retention in ELSA — over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90%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CES-D available in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&gt;93%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cases across all three waves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2-year gaps give a meaningful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2–4 year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prediction horizon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join: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7,211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participants retained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Survivorship note: inner join retains healthier, wealthier participants — acknowledged limitation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537200" y="1333500"/>
            <a:ext cx="4699000" cy="33020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30196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40400" y="1460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Outcome: CES-D at Wave 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40400" y="1778000"/>
            <a:ext cx="4292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 binary items (yes/no), summed to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0–8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scale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Threshold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≥3 = depressed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(Steffick 2000)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IFS-validated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cesd_sc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variable used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40400" y="3175000"/>
            <a:ext cx="2006600" cy="6096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40400" y="3175000"/>
            <a:ext cx="200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FB38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7,211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participants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924800" y="3175000"/>
            <a:ext cx="2006600" cy="6096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4800" y="3175000"/>
            <a:ext cx="200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0FB38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19%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prevalence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740400" y="3784600"/>
            <a:ext cx="2006600" cy="762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0400" y="3911600"/>
            <a:ext cx="200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1,372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depressed (W8)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924800" y="3784600"/>
            <a:ext cx="2006600" cy="762000"/>
          </a:xfrm>
          <a:prstGeom prst="roundRect">
            <a:avLst>
              <a:gd name="adj" fmla="val 8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24800" y="3911600"/>
            <a:ext cx="2006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1:4.3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 ratio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0464800" y="1333500"/>
            <a:ext cx="5181600" cy="2032000"/>
          </a:xfrm>
          <a:prstGeom prst="roundRect">
            <a:avLst>
              <a:gd name="adj" fmla="val 8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30196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68000" y="14605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CES-D scoring fix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668000" y="1778000"/>
            <a:ext cx="47752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Earlier pipeline used 0–3 per-item scale → range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8–16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and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74%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prevalence (clinically impossible)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Fix: IFS-derived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cesd_sc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directly (0–8, binary scoring)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Corrected: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19%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consistent with literature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464800" y="3556000"/>
            <a:ext cx="5181600" cy="1397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668000" y="3683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668000" y="3962400"/>
            <a:ext cx="4775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LR/RF: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class_weight='balanced'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XGB: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scale_pos_weight=4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· LGBM: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class_weight='balanced'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recall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0.67–0.73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across models</a:t>
            </a:r>
            <a:endParaRPr lang="en-US" sz="1600" dirty="0"/>
          </a:p>
        </p:txBody>
      </p:sp>
      <p:pic>
        <p:nvPicPr>
          <p:cNvPr id="24" name="Image 0" descr="https://kimi-img.moonshot.cn/pub/slides/okc/43xr4ociv7fsg/mnt/agents/output/elsa_depression_prediction/images/outcome_distribution.png">    </p:cNvPr>
          <p:cNvPicPr>
            <a:picLocks noChangeAspect="1"/>
          </p:cNvPicPr>
          <p:nvPr/>
        </p:nvPicPr>
        <p:blipFill>
          <a:blip r:embed="rId1"/>
          <a:srcRect l="18787" r="18787" t="0" b="0"/>
          <a:stretch/>
        </p:blipFill>
        <p:spPr>
          <a:xfrm>
            <a:off x="609600" y="4762500"/>
            <a:ext cx="6985000" cy="3937000"/>
          </a:xfrm>
          <a:prstGeom prst="roundRect">
            <a:avLst>
              <a:gd name="adj" fmla="val 6000"/>
            </a:avLst>
          </a:prstGeom>
        </p:spPr>
      </p:pic>
      <p:sp>
        <p:nvSpPr>
          <p:cNvPr id="25" name="Text 22"/>
          <p:cNvSpPr/>
          <p:nvPr/>
        </p:nvSpPr>
        <p:spPr>
          <a:xfrm>
            <a:off x="609600" y="8763000"/>
            <a:ext cx="698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1: CES-D distribution at Wave 8 and class distribution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7874000" y="5080000"/>
            <a:ext cx="7772400" cy="3937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077200" y="51816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Key dataset characteristics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077200" y="5486400"/>
            <a:ext cx="7366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60000"/>
              </a:lnSpc>
            </a:pPr>
            <a:r>
              <a:rPr lang="en-US" sz="11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ELSA</a:t>
            </a:r>
            <a:pPr>
              <a:lnSpc>
                <a:spcPct val="160000"/>
              </a:lnSpc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English Longitudinal Study of Ageing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Nationally representative cohort of English adults </a:t>
            </a:r>
            <a:pPr>
              <a:lnSpc>
                <a:spcPct val="160000"/>
              </a:lnSpc>
            </a:pPr>
            <a:r>
              <a:rPr lang="en-US" sz="11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aged 50+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Run by Institute for Fiscal Studies (IFS)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Accessible via UK Data Service (Study 5050)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Each wave collects: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status, chronic conditions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 and functional ability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Cognitive tests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Socioeconomic circumstances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engagement, lifestyle, demographics</a:t>
            </a:r>
            <a:endParaRPr lang="en-US" sz="1600" dirty="0"/>
          </a:p>
          <a:p>
            <a:pPr>
              <a:lnSpc>
                <a:spcPct val="160000"/>
              </a:lnSpc>
              <a:spcBef>
                <a:spcPts val="800"/>
              </a:spcBef>
            </a:pPr>
            <a:r>
              <a:rPr lang="en-US" sz="1100" dirty="0">
                <a:solidFill>
                  <a:srgbClr val="C997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clinical instrument: CES-D (Center for Epidemiologic Studies Depression Scale)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609600" y="8966200"/>
            <a:ext cx="635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gradFill rotWithShape="1" flip="none">
          <a:gsLst>
            <a:gs pos="0">
              <a:srgbClr val="071525"/>
            </a:gs>
            <a:gs pos="100000">
              <a:srgbClr val="0D2540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Experimental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60 combinations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— three arms, five configs, four models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25098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422400"/>
            <a:ext cx="254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spc="12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ARM 1 — BASELINE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800" y="165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0FB38D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W6 only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 features · ~4-year horizon to W8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Cross-sectional · Earlier snapshot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37200" y="1333500"/>
            <a:ext cx="4699000" cy="13970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25098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40400" y="1422400"/>
            <a:ext cx="254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spc="120" kern="0" dirty="0">
                <a:solidFill>
                  <a:srgbClr val="D4A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ARM 2 — BASELINE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40400" y="16510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D4A84B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W7 only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40400" y="2032000"/>
            <a:ext cx="42926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68 features · ~2-year horizon to W8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Cross-sectional · Closer to outcome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464800" y="1333500"/>
            <a:ext cx="5181600" cy="1397000"/>
          </a:xfrm>
          <a:prstGeom prst="roundRect">
            <a:avLst>
              <a:gd name="adj" fmla="val 8000"/>
            </a:avLst>
          </a:prstGeom>
          <a:solidFill>
            <a:srgbClr val="1A4168">
              <a:alpha val="40000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8000" y="14224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spc="120" kern="0" dirty="0">
                <a:solidFill>
                  <a:srgbClr val="FFFFFF">
                    <a:alpha val="50196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ARM 3 — LONGITUDINAL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668000" y="16510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W6 + W7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0" y="2032000"/>
            <a:ext cx="47752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138 features + trajectories · 2–4 year horizon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cesd_change · mobility_change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2946400"/>
            <a:ext cx="15036800" cy="1206500"/>
          </a:xfrm>
          <a:prstGeom prst="roundRect">
            <a:avLst>
              <a:gd name="adj" fmla="val 6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048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Five feature configurations per arm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3403600"/>
            <a:ext cx="2667000" cy="533400"/>
          </a:xfrm>
          <a:prstGeom prst="roundRect">
            <a:avLst>
              <a:gd name="adj" fmla="val 12000"/>
            </a:avLst>
          </a:prstGeom>
          <a:solidFill>
            <a:srgbClr val="0D8A6E">
              <a:alpha val="16471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800" y="34036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Full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features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683000" y="3403600"/>
            <a:ext cx="2667000" cy="533400"/>
          </a:xfrm>
          <a:prstGeom prst="roundRect">
            <a:avLst>
              <a:gd name="adj" fmla="val 12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83000" y="34036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CES-D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Remove depression history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553200" y="3403600"/>
            <a:ext cx="2667000" cy="533400"/>
          </a:xfrm>
          <a:prstGeom prst="roundRect">
            <a:avLst>
              <a:gd name="adj" fmla="val 12000"/>
            </a:avLst>
          </a:prstGeom>
          <a:solidFill>
            <a:srgbClr val="FFFFFF">
              <a:alpha val="3922"/>
            </a:srgbClr>
          </a:solidFill>
          <a:ln w="1270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53200" y="34036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only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SRH + chronic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423400" y="3403600"/>
            <a:ext cx="2667000" cy="533400"/>
          </a:xfrm>
          <a:prstGeom prst="roundRect">
            <a:avLst>
              <a:gd name="adj" fmla="val 12000"/>
            </a:avLst>
          </a:prstGeom>
          <a:solidFill>
            <a:srgbClr val="FFFFFF">
              <a:alpha val="3922"/>
            </a:srgbClr>
          </a:solidFill>
          <a:ln w="1270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423400" y="3403600"/>
            <a:ext cx="2667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 / Cog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 + cognition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2293600" y="3403600"/>
            <a:ext cx="3175000" cy="533400"/>
          </a:xfrm>
          <a:prstGeom prst="roundRect">
            <a:avLst>
              <a:gd name="adj" fmla="val 12000"/>
            </a:avLst>
          </a:prstGeom>
          <a:solidFill>
            <a:srgbClr val="FFFFFF">
              <a:alpha val="3922"/>
            </a:srgbClr>
          </a:solidFill>
          <a:ln w="12700">
            <a:solidFill>
              <a:srgbClr val="FFFFFF">
                <a:alpha val="18824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93600" y="3403600"/>
            <a:ext cx="3175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Socioeconomic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Financial + social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09600" y="4343400"/>
            <a:ext cx="7366000" cy="2159000"/>
          </a:xfrm>
          <a:prstGeom prst="roundRect">
            <a:avLst>
              <a:gd name="adj" fmla="val 6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2800" y="44704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Four models per arm per config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2800" y="4826000"/>
            <a:ext cx="3302000" cy="698500"/>
          </a:xfrm>
          <a:prstGeom prst="roundRect">
            <a:avLst>
              <a:gd name="adj" fmla="val 10000"/>
            </a:avLst>
          </a:prstGeom>
          <a:solidFill>
            <a:srgbClr val="FFFFFF">
              <a:alpha val="3137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12800" y="4826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Interpretable baseline, no tuning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292600" y="4826000"/>
            <a:ext cx="3302000" cy="698500"/>
          </a:xfrm>
          <a:prstGeom prst="roundRect">
            <a:avLst>
              <a:gd name="adj" fmla="val 10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25098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2600" y="48260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 Forest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Tuned · class balanced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12800" y="5651500"/>
            <a:ext cx="3302000" cy="698500"/>
          </a:xfrm>
          <a:prstGeom prst="roundRect">
            <a:avLst>
              <a:gd name="adj" fmla="val 10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25098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2800" y="56515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XGBoost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Tuned · scale_pos_weight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292600" y="5651500"/>
            <a:ext cx="3302000" cy="698500"/>
          </a:xfrm>
          <a:prstGeom prst="roundRect">
            <a:avLst>
              <a:gd name="adj" fmla="val 10000"/>
            </a:avLst>
          </a:prstGeom>
          <a:solidFill>
            <a:srgbClr val="C94F2C">
              <a:alpha val="7059"/>
            </a:srgbClr>
          </a:solidFill>
          <a:ln w="12700">
            <a:solidFill>
              <a:srgbClr val="E8674A">
                <a:alpha val="25098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2600" y="5651500"/>
            <a:ext cx="330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LightGBM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Tuned · literature benchmark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8280400" y="4343400"/>
            <a:ext cx="7366000" cy="2159000"/>
          </a:xfrm>
          <a:prstGeom prst="roundRect">
            <a:avLst>
              <a:gd name="adj" fmla="val 6000"/>
            </a:avLst>
          </a:prstGeom>
          <a:solidFill>
            <a:srgbClr val="1A4168">
              <a:alpha val="40000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483600" y="44704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Tuning strategy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483600" y="4800600"/>
            <a:ext cx="695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config per arm selected by mean AUC across all models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RandomizedSearchCV: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 iterations × 5-fold stratified CV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Scoring: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roc_auc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(not accuracy — avoids majority-class bias)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 excluded from tuning — stable interpretable reference</a:t>
            </a:r>
            <a:endParaRPr lang="en-US" sz="1600" dirty="0"/>
          </a:p>
          <a:p>
            <a:pPr marL="254000" indent="-25400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Total: 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× 5 × 4 = 60</a:t>
            </a:r>
            <a:pPr>
              <a:lnSpc>
                <a:spcPct val="160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base combinations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rotWithShape="1" flip="none">
          <a:gsLst>
            <a:gs pos="0">
              <a:srgbClr val="0A1F35"/>
            </a:gs>
            <a:gs pos="100000">
              <a:srgbClr val="0F2D4A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domains and configuration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Nine domains grounded in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clinical literature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333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Prior depression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cesd_sc W6/W7, cesd_change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09600" y="1841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2800" y="1841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Self-rated health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srh_hrs, hehelf, llsill · Ohrnberger 2017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09600" y="2349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349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Chronic conditions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BP, diabetes, arthritis, heart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857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2857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 / function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10 items summed → ADL/IADL count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3365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365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Cognition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memtotb (memory), execnn (exec fn)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873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3873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Socioeconomic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findiff, totwq5, ndepriv · Zaninotto 2019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4381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4381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Social / housing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famtype, tenure, internet use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4889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800" y="4889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Lifestyle / digital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heacta/b/c (physical activity), scint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9600" y="5397500"/>
            <a:ext cx="7366000" cy="4064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2800" y="5397500"/>
            <a:ext cx="69596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Demographics</a:t>
            </a:r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age, sex, marstat, ethnicity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80400" y="13335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30196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83600" y="1460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 symmetry enforcement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83600" y="1778000"/>
            <a:ext cx="69596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ndepriv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dropped from both waves — W7 version had 56% missing data in training split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Rule: if a stem fails missingness at one wave, both waves are removed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Prevents longitudinal model using asymmetrically available predictors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280400" y="31750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30196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3600" y="3302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Feature engineering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483600" y="3619500"/>
            <a:ext cx="69596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25 individual item-level variables compressed to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 composite scores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mobility_count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adl_count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iadl_count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functional_burden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cesd_change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,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mobility_change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W7−W6 trajectory (W6+W7 arm only)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280400" y="5016500"/>
            <a:ext cx="7366000" cy="17145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83600" y="5143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Missingness handling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83600" y="5461000"/>
            <a:ext cx="6959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Survey missing codes −1, −2, −8, −9 → NaN throughout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Columns with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&gt;40% missing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dropped — estimated on training split only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Median imputation within sklearn Pipeline per arm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rotWithShape="1" flip="none">
          <a:gsLst>
            <a:gs pos="0">
              <a:srgbClr val="071525"/>
            </a:gs>
            <a:gs pos="100000">
              <a:srgbClr val="0D2540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results — answering RQ1 and RQ2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AUC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0.848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from non-clinical survey data alone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7366000" cy="2222500"/>
          </a:xfrm>
          <a:prstGeom prst="roundRect">
            <a:avLst>
              <a:gd name="adj" fmla="val 6000"/>
            </a:avLst>
          </a:prstGeom>
          <a:solidFill>
            <a:srgbClr val="1A4168">
              <a:alpha val="40000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460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tuned model per arm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8000"/>
          <a:ext cx="6959600" cy="1587500"/>
        </p:xfrm>
        <a:graphic>
          <a:graphicData uri="http://schemas.openxmlformats.org/drawingml/2006/table">
            <a:tbl>
              <a:tblPr/>
              <a:tblGrid>
                <a:gridCol w="2087880"/>
                <a:gridCol w="1531112"/>
                <a:gridCol w="1113536"/>
                <a:gridCol w="1113536"/>
                <a:gridCol w="1113536"/>
              </a:tblGrid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Arm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W6 only (4yr)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LGBM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0.819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0.532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0.732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W7 only (2yr)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RF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0.824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0.545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0.668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39687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W6+W7 (longit.)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RF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3581400"/>
            <a:ext cx="6959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Benchmark: Zhao et al. 2025 — AUC 0.77–0.90 on ELSA (cross-sectional, larger sample)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600" y="3784600"/>
            <a:ext cx="7366000" cy="2540000"/>
          </a:xfrm>
          <a:prstGeom prst="roundRect">
            <a:avLst>
              <a:gd name="adj" fmla="val 6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39116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All models — W6+W7 arm</a:t>
            </a:r>
            <a:endParaRPr lang="en-US" sz="12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4216400"/>
          <a:ext cx="6959600" cy="1905000"/>
        </p:xfrm>
        <a:graphic>
          <a:graphicData uri="http://schemas.openxmlformats.org/drawingml/2006/table">
            <a:tbl>
              <a:tblPr/>
              <a:tblGrid>
                <a:gridCol w="1670304"/>
                <a:gridCol w="1113536"/>
                <a:gridCol w="1113536"/>
                <a:gridCol w="1113536"/>
                <a:gridCol w="1113536"/>
                <a:gridCol w="835152"/>
              </a:tblGrid>
              <a:tr h="325855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 bin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 mac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32585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baseline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0.835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0.559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0.711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0.697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0.467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32585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RF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0.727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0.491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325855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XGB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0.734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0.676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0.516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300789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LGBM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0.843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0.577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0.758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0.466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300789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Soft-vote ens.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0.728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0.709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0.494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280400" y="1333500"/>
            <a:ext cx="7366000" cy="10795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8483600" y="1460500"/>
            <a:ext cx="609600" cy="279400"/>
          </a:xfrm>
          <a:prstGeom prst="roundRect">
            <a:avLst>
              <a:gd name="adj" fmla="val 15000"/>
            </a:avLst>
          </a:prstGeom>
          <a:solidFill>
            <a:srgbClr val="0D8A6E">
              <a:alpha val="30196"/>
            </a:srgbClr>
          </a:solidFill>
          <a:ln/>
        </p:spPr>
      </p:sp>
      <p:sp>
        <p:nvSpPr>
          <p:cNvPr id="13" name="Text 9"/>
          <p:cNvSpPr/>
          <p:nvPr/>
        </p:nvSpPr>
        <p:spPr>
          <a:xfrm>
            <a:off x="8483600" y="1460500"/>
            <a:ext cx="609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RQ1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9220200" y="1422400"/>
            <a:ext cx="6223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Yes.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AUC 0.848 is competitive with the ELSA literature benchmark. The model correctly ranks a depressed individual above a non-depressed one 84.8% of the time — from non-clinical survey variables only.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80400" y="2565400"/>
            <a:ext cx="7366000" cy="10795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40000"/>
              </a:srgbClr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483600" y="2692400"/>
            <a:ext cx="1270000" cy="279400"/>
          </a:xfrm>
          <a:prstGeom prst="roundRect">
            <a:avLst>
              <a:gd name="adj" fmla="val 15000"/>
            </a:avLst>
          </a:prstGeom>
          <a:solidFill>
            <a:srgbClr val="C9973A">
              <a:alpha val="25098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8483600" y="2692400"/>
            <a:ext cx="127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A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RQ2 horizon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9880600" y="2654300"/>
            <a:ext cx="558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W7 only (2yr) beats W6 only (4yr) by only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0.005 AUC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 A 4-year early prediction carries nearly equivalent information to a 2-year prediction — clinically significant for early intervention.</a:t>
            </a:r>
            <a:endParaRPr lang="en-US" sz="1600" dirty="0"/>
          </a:p>
        </p:txBody>
      </p:sp>
      <p:sp>
        <p:nvSpPr>
          <p:cNvPr id="19" name="Shape 15"/>
          <p:cNvSpPr/>
          <p:nvPr/>
        </p:nvSpPr>
        <p:spPr>
          <a:xfrm>
            <a:off x="8280400" y="3797300"/>
            <a:ext cx="7366000" cy="10795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40000"/>
              </a:srgbClr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8483600" y="3924300"/>
            <a:ext cx="1524000" cy="279400"/>
          </a:xfrm>
          <a:prstGeom prst="roundRect">
            <a:avLst>
              <a:gd name="adj" fmla="val 15000"/>
            </a:avLst>
          </a:prstGeom>
          <a:solidFill>
            <a:srgbClr val="C9973A">
              <a:alpha val="25098"/>
            </a:srgbClr>
          </a:solidFill>
          <a:ln/>
        </p:spPr>
      </p:sp>
      <p:sp>
        <p:nvSpPr>
          <p:cNvPr id="21" name="Text 17"/>
          <p:cNvSpPr/>
          <p:nvPr/>
        </p:nvSpPr>
        <p:spPr>
          <a:xfrm>
            <a:off x="8483600" y="39243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A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RQ2 longit.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0134600" y="3886200"/>
            <a:ext cx="533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Adding both waves gives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+0.024 AUC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over the best single-wave model. Trajectory features contribute, but single-wave screening is already viable.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8280400" y="50292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30196"/>
              </a:srgbClr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8483600" y="51562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Metric note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8483600" y="5461000"/>
            <a:ext cx="69596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AUC-ROC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primary discrimination metric — threshold-independent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Binary F1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measures depression detection only, not majority-class accuracy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 gap vs best RF: only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0.013 AUC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interpretable model is defensible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rotWithShape="1" flip="none">
          <a:gsLst>
            <a:gs pos="0">
              <a:srgbClr val="0A1F35"/>
            </a:gs>
            <a:gs pos="100000">
              <a:srgbClr val="0F2D4A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config comparison and threshold optimisation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Health alone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captures 88% of full model performance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3335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AUC by feature config — W6+W7 arm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9600" y="1676400"/>
          <a:ext cx="7112000" cy="279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9600" y="46355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4762500"/>
            <a:ext cx="67056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Health only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at 24 features achieves 88% of full model AUC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Socioeconomic features weakest in isolation — signal correlated with health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CES-D retains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91%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of AUC — model is not just tracking persistence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26400" y="13335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Threshold optimisation — RF tuned (W6+W7)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026400" y="1676400"/>
            <a:ext cx="7620000" cy="1651000"/>
          </a:xfrm>
          <a:prstGeom prst="roundRect">
            <a:avLst>
              <a:gd name="adj" fmla="val 6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803400"/>
          <a:ext cx="7213600" cy="1397000"/>
        </p:xfrm>
        <a:graphic>
          <a:graphicData uri="http://schemas.openxmlformats.org/drawingml/2006/table">
            <a:tbl>
              <a:tblPr/>
              <a:tblGrid>
                <a:gridCol w="1586992"/>
                <a:gridCol w="1442720"/>
                <a:gridCol w="1442720"/>
                <a:gridCol w="1442720"/>
                <a:gridCol w="1298448"/>
              </a:tblGrid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Default t=0.50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Optimal 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 @ opt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RF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0.606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0.627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XGB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0.593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LGBM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0.577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0.592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794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baseline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0.559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0.60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0.570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8026400" y="3492500"/>
            <a:ext cx="7620000" cy="12700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30196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0" y="3619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is optimal threshold above 0.50?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229600" y="3911600"/>
            <a:ext cx="72136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class_weight='balanced'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already shifts the model toward positive predictions during training. Raising threshold to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0.58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filters low-confidence positives, improving precision enough to lift F1 by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+0.024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.</a:t>
            </a:r>
            <a:endParaRPr lang="en-US" sz="1600" dirty="0"/>
          </a:p>
        </p:txBody>
      </p:sp>
      <p:pic>
        <p:nvPicPr>
          <p:cNvPr id="14" name="Image 0" descr="https://kimi-img.moonshot.cn/pub/slides/okc/43xr4ociv7fsg/mnt/agents/output/elsa_depression_prediction/images/threshold_optimisation.png">    </p:cNvPr>
          <p:cNvPicPr>
            <a:picLocks noChangeAspect="1"/>
          </p:cNvPicPr>
          <p:nvPr/>
        </p:nvPicPr>
        <p:blipFill>
          <a:blip r:embed="rId2"/>
          <a:srcRect l="0" r="0" t="14792" b="14792"/>
          <a:stretch/>
        </p:blipFill>
        <p:spPr>
          <a:xfrm>
            <a:off x="8026400" y="4953000"/>
            <a:ext cx="7620000" cy="3302000"/>
          </a:xfrm>
          <a:prstGeom prst="roundRect">
            <a:avLst>
              <a:gd name="adj" fmla="val 6000"/>
            </a:avLst>
          </a:prstGeom>
        </p:spPr>
      </p:pic>
      <p:sp>
        <p:nvSpPr>
          <p:cNvPr id="15" name="Text 10"/>
          <p:cNvSpPr/>
          <p:nvPr/>
        </p:nvSpPr>
        <p:spPr>
          <a:xfrm>
            <a:off x="8026400" y="8318500"/>
            <a:ext cx="762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2: F1, Recall, Precision vs threshold — RF tuned (W6+W7)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rotWithShape="1" flip="none">
          <a:gsLst>
            <a:gs pos="0">
              <a:srgbClr val="071525"/>
            </a:gs>
            <a:gs pos="100000">
              <a:srgbClr val="0D2540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ROC and Precision-Recall curves — W6+W7 arm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LR sacrifices only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0.013 AUC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for full interpretability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7366000" cy="2540000"/>
          </a:xfrm>
          <a:prstGeom prst="roundRect">
            <a:avLst>
              <a:gd name="adj" fmla="val 6000"/>
            </a:avLst>
          </a:prstGeom>
          <a:solidFill>
            <a:srgbClr val="1A4168">
              <a:alpha val="40000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460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ROC curve findings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8000"/>
          <a:ext cx="6959600" cy="1270000"/>
        </p:xfrm>
        <a:graphic>
          <a:graphicData uri="http://schemas.openxmlformats.org/drawingml/2006/table">
            <a:tbl>
              <a:tblPr/>
              <a:tblGrid>
                <a:gridCol w="2435860"/>
                <a:gridCol w="1531112"/>
                <a:gridCol w="1531112"/>
                <a:gridCol w="1461516"/>
              </a:tblGrid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AUC-ROC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Avg Prec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Gap vs RF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RF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0.635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XGB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0.627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0.004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baseline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0.835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0.617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0.013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54000">
                <a:tc>
                  <a:txBody>
                    <a:bodyPr/>
                    <a:lstStyle/>
                    <a:p>
                      <a:pPr algn="l"/>
                      <a:r>
                        <a:rPr lang="en-US" sz="1100" i="1" u="none" dirty="0">
                          <a:solidFill>
                            <a:srgbClr val="8C9BA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No-skill baseline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8C9BA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0.500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8C9BAB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0.190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—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800" y="3149600"/>
            <a:ext cx="69596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Tree models diverge from LR at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100" b="1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FPR 0.20–0.40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1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the non-linear interaction zone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100" dirty="0">
                <a:solidFill>
                  <a:srgbClr val="FFFFFF">
                    <a:alpha val="6902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models substantially above 0.19 no-skill baseline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09600" y="4064000"/>
            <a:ext cx="7366000" cy="2032000"/>
          </a:xfrm>
          <a:prstGeom prst="roundRect">
            <a:avLst>
              <a:gd name="adj" fmla="val 6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12800" y="4191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Precision-Recall — 19% prevalence context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12800" y="4508500"/>
            <a:ext cx="6959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 curves are more informative than ROC at low prevalence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Curves fall steeply beyond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0.60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catching more than 60% of cases comes at significant precision cost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 Average Precision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0.635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no-skill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0.190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3.3× improvement</a:t>
            </a:r>
            <a:endParaRPr lang="en-US" sz="1600" dirty="0"/>
          </a:p>
        </p:txBody>
      </p:sp>
      <p:pic>
        <p:nvPicPr>
          <p:cNvPr id="11" name="Image 0" descr="https://kimi-img.moonshot.cn/pub/slides/okc/43xr4ociv7fsg/mnt/agents/output/elsa_depression_prediction/images/roc_curves.png">    </p:cNvPr>
          <p:cNvPicPr>
            <a:picLocks noChangeAspect="1"/>
          </p:cNvPicPr>
          <p:nvPr/>
        </p:nvPicPr>
        <p:blipFill>
          <a:blip r:embed="rId1"/>
          <a:srcRect l="0" r="0" t="22711" b="22711"/>
          <a:stretch/>
        </p:blipFill>
        <p:spPr>
          <a:xfrm>
            <a:off x="8280400" y="1333500"/>
            <a:ext cx="7366000" cy="3429000"/>
          </a:xfrm>
          <a:prstGeom prst="roundRect">
            <a:avLst>
              <a:gd name="adj" fmla="val 6000"/>
            </a:avLst>
          </a:prstGeom>
        </p:spPr>
      </p:pic>
      <p:sp>
        <p:nvSpPr>
          <p:cNvPr id="12" name="Text 8"/>
          <p:cNvSpPr/>
          <p:nvPr/>
        </p:nvSpPr>
        <p:spPr>
          <a:xfrm>
            <a:off x="8280400" y="4826000"/>
            <a:ext cx="736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3: ROC curves — best model per arm</a:t>
            </a:r>
            <a:endParaRPr lang="en-US" sz="1600" dirty="0"/>
          </a:p>
        </p:txBody>
      </p:sp>
      <p:pic>
        <p:nvPicPr>
          <p:cNvPr id="13" name="Image 1" descr="https://kimi-img.moonshot.cn/pub/slides/okc/43xr4ociv7fsg/mnt/agents/output/elsa_depression_prediction/images/pr_curves.png">    </p:cNvPr>
          <p:cNvPicPr>
            <a:picLocks noChangeAspect="1"/>
          </p:cNvPicPr>
          <p:nvPr/>
        </p:nvPicPr>
        <p:blipFill>
          <a:blip r:embed="rId2"/>
          <a:srcRect l="0" r="0" t="22711" b="22711"/>
          <a:stretch/>
        </p:blipFill>
        <p:spPr>
          <a:xfrm>
            <a:off x="8280400" y="5143500"/>
            <a:ext cx="7366000" cy="3429000"/>
          </a:xfrm>
          <a:prstGeom prst="roundRect">
            <a:avLst>
              <a:gd name="adj" fmla="val 6000"/>
            </a:avLst>
          </a:prstGeom>
        </p:spPr>
      </p:pic>
      <p:sp>
        <p:nvSpPr>
          <p:cNvPr id="14" name="Text 9"/>
          <p:cNvSpPr/>
          <p:nvPr/>
        </p:nvSpPr>
        <p:spPr>
          <a:xfrm>
            <a:off x="8280400" y="8572500"/>
            <a:ext cx="7366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4: Precision-Recall curves — best model per arm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5240000" y="8826500"/>
            <a:ext cx="635000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rotWithShape="1" flip="none">
          <a:gsLst>
            <a:gs pos="0">
              <a:srgbClr val="0A1F35"/>
            </a:gs>
            <a:gs pos="100000">
              <a:srgbClr val="0F2D4A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Domain ablation and feature correlation — RQ3 setup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Near-zero ablation drops reflect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feature correlation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, not irrelevance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3335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Leave-one-domain-out AUC drop (W6+W7, RF, baseline 0.848)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9600" y="1676400"/>
          <a:ext cx="7112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9600" y="4889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30196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12800" y="5016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Why near-zero for most domains?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12800" y="5308600"/>
            <a:ext cx="67056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Domain correlation: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mobility/function ↔ self-rated health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share mean |r| ≈ 0.45. When one domain is removed, the model reconstructs signal from correlated neighbours. </a:t>
            </a:r>
            <a:pPr>
              <a:lnSpc>
                <a:spcPct val="150000"/>
              </a:lnSpc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Ablation = unique contribution only.</a:t>
            </a:r>
            <a:endParaRPr lang="en-US" sz="1600" dirty="0"/>
          </a:p>
        </p:txBody>
      </p:sp>
      <p:pic>
        <p:nvPicPr>
          <p:cNvPr id="9" name="Image 0" descr="https://kimi-img.moonshot.cn/pub/slides/okc/43xr4ociv7fsg/mnt/agents/output/elsa_depression_prediction/images/domain_correlation_heatmap.png">    </p:cNvPr>
          <p:cNvPicPr>
            <a:picLocks noChangeAspect="1"/>
          </p:cNvPicPr>
          <p:nvPr/>
        </p:nvPicPr>
        <p:blipFill>
          <a:blip r:embed="rId2"/>
          <a:srcRect l="0" r="0" t="22479" b="22479"/>
          <a:stretch/>
        </p:blipFill>
        <p:spPr>
          <a:xfrm>
            <a:off x="8026400" y="1333500"/>
            <a:ext cx="7620000" cy="3556000"/>
          </a:xfrm>
          <a:prstGeom prst="roundRect">
            <a:avLst>
              <a:gd name="adj" fmla="val 6000"/>
            </a:avLst>
          </a:prstGeom>
        </p:spPr>
      </p:pic>
      <p:sp>
        <p:nvSpPr>
          <p:cNvPr id="10" name="Text 6"/>
          <p:cNvSpPr/>
          <p:nvPr/>
        </p:nvSpPr>
        <p:spPr>
          <a:xfrm>
            <a:off x="8026400" y="4953000"/>
            <a:ext cx="762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5: Domain correlation heatmap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8026400" y="5308600"/>
            <a:ext cx="7620000" cy="19685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30196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229600" y="54356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Top 25 features by correlation with depressed_w8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8229600" y="5740400"/>
            <a:ext cx="72136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cesd_sc_w7, cesd_sc_w6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highest positive correlation — expected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hemob96_w6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(no mobility difficulties): strong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negative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protective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findiff_w6/w7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(financial difficulty): positive — socioeconomic signal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totwq5_bu_s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(wealth quintile): negative — higher wealth protective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sex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: positive — women at higher risk (Kessler 2003)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8026400" y="7264400"/>
            <a:ext cx="7620000" cy="10795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30196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229600" y="73914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229600" y="7670800"/>
            <a:ext cx="72136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no_cesd configuration (AUC 0.773) gives the cleanest RQ3 answer — forcibly removing CES-D, not just testing one domain at a time.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rotWithShape="1" flip="none">
          <a:gsLst>
            <a:gs pos="0">
              <a:srgbClr val="071525"/>
            </a:gs>
            <a:gs pos="100000">
              <a:srgbClr val="0D2540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Leakage sensitivity and SHAP — answering RQ3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91% of AUC retained without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any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depression history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3335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is NOT just tracking depression persistence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9600" y="1676400"/>
          <a:ext cx="71120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9600" y="4089400"/>
            <a:ext cx="2159000" cy="355600"/>
          </a:xfrm>
          <a:prstGeom prst="roundRect">
            <a:avLst>
              <a:gd name="adj" fmla="val 12000"/>
            </a:avLst>
          </a:prstGeom>
          <a:solidFill>
            <a:srgbClr val="0D8A6E">
              <a:alpha val="16471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9600" y="40894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W6 only: 90% retained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022600" y="4089400"/>
            <a:ext cx="2159000" cy="355600"/>
          </a:xfrm>
          <a:prstGeom prst="roundRect">
            <a:avLst>
              <a:gd name="adj" fmla="val 12000"/>
            </a:avLst>
          </a:prstGeom>
          <a:solidFill>
            <a:srgbClr val="0D8A6E">
              <a:alpha val="16471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022600" y="40894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W7 only: 93% retained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435600" y="4089400"/>
            <a:ext cx="2159000" cy="355600"/>
          </a:xfrm>
          <a:prstGeom prst="roundRect">
            <a:avLst>
              <a:gd name="adj" fmla="val 12000"/>
            </a:avLst>
          </a:prstGeom>
          <a:solidFill>
            <a:srgbClr val="0D8A6E">
              <a:alpha val="16471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35600" y="4089400"/>
            <a:ext cx="2159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W6+W7: 91% retained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09600" y="45974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30196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12800" y="4724400"/>
            <a:ext cx="609600" cy="279400"/>
          </a:xfrm>
          <a:prstGeom prst="roundRect">
            <a:avLst>
              <a:gd name="adj" fmla="val 15000"/>
            </a:avLst>
          </a:prstGeom>
          <a:solidFill>
            <a:srgbClr val="C94F2C">
              <a:alpha val="25098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812800" y="4724400"/>
            <a:ext cx="6096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E86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549400" y="46863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Independent risk factors: </a:t>
            </a:r>
            <a:pPr>
              <a:lnSpc>
                <a:spcPct val="145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self-rated health, mobility, financial strain, sex</a:t>
            </a:r>
            <a:pPr>
              <a:lnSpc>
                <a:spcPct val="145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consistent with Ohrnberger et al. 2017 and Zaninotto et al. 2019.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026400" y="13335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SHAP narrative — two-act story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26400" y="1676400"/>
            <a:ext cx="3683000" cy="279400"/>
          </a:xfrm>
          <a:prstGeom prst="roundRect">
            <a:avLst>
              <a:gd name="adj" fmla="val 12000"/>
            </a:avLst>
          </a:prstGeom>
          <a:solidFill>
            <a:srgbClr val="1A4168">
              <a:alpha val="50196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8026400" y="1676400"/>
            <a:ext cx="368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spc="120" kern="0" dirty="0">
                <a:solidFill>
                  <a:srgbClr val="7FB4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 1 — FULL MODEL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963400" y="1676400"/>
            <a:ext cx="3683000" cy="279400"/>
          </a:xfrm>
          <a:prstGeom prst="roundRect">
            <a:avLst>
              <a:gd name="adj" fmla="val 12000"/>
            </a:avLst>
          </a:prstGeom>
          <a:solidFill>
            <a:srgbClr val="C94F2C">
              <a:alpha val="18824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11963400" y="1676400"/>
            <a:ext cx="368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spc="120" kern="0" dirty="0">
                <a:solidFill>
                  <a:srgbClr val="E86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 2 — NO CES-D</a:t>
            </a:r>
            <a:endParaRPr lang="en-US" sz="1600" dirty="0"/>
          </a:p>
        </p:txBody>
      </p:sp>
      <p:pic>
        <p:nvPicPr>
          <p:cNvPr id="21" name="Image 0" descr="https://kimi-img.moonshot.cn/pub/slides/okc/43xr4ociv7fsg/mnt/agents/output/elsa_depression_prediction/images/shap_act1_full.png">    </p:cNvPr>
          <p:cNvPicPr>
            <a:picLocks noChangeAspect="1"/>
          </p:cNvPicPr>
          <p:nvPr/>
        </p:nvPicPr>
        <p:blipFill>
          <a:blip r:embed="rId2"/>
          <a:srcRect l="13328" r="13328" t="0" b="0"/>
          <a:stretch/>
        </p:blipFill>
        <p:spPr>
          <a:xfrm>
            <a:off x="8026400" y="2057400"/>
            <a:ext cx="3683000" cy="3556000"/>
          </a:xfrm>
          <a:prstGeom prst="roundRect">
            <a:avLst>
              <a:gd name="adj" fmla="val 6000"/>
            </a:avLst>
          </a:prstGeom>
        </p:spPr>
      </p:pic>
      <p:pic>
        <p:nvPicPr>
          <p:cNvPr id="22" name="Image 1" descr="https://kimi-img.moonshot.cn/pub/slides/okc/43xr4ociv7fsg/mnt/agents/output/elsa_depression_prediction/images/shap_act2_no_cesd.png">    </p:cNvPr>
          <p:cNvPicPr>
            <a:picLocks noChangeAspect="1"/>
          </p:cNvPicPr>
          <p:nvPr/>
        </p:nvPicPr>
        <p:blipFill>
          <a:blip r:embed="rId3"/>
          <a:srcRect l="13482" r="13482" t="0" b="0"/>
          <a:stretch/>
        </p:blipFill>
        <p:spPr>
          <a:xfrm>
            <a:off x="11963400" y="2057400"/>
            <a:ext cx="3683000" cy="3556000"/>
          </a:xfrm>
          <a:prstGeom prst="roundRect">
            <a:avLst>
              <a:gd name="adj" fmla="val 6000"/>
            </a:avLst>
          </a:prstGeom>
        </p:spPr>
      </p:pic>
      <p:sp>
        <p:nvSpPr>
          <p:cNvPr id="23" name="Text 18"/>
          <p:cNvSpPr/>
          <p:nvPr/>
        </p:nvSpPr>
        <p:spPr>
          <a:xfrm>
            <a:off x="8026400" y="5689600"/>
            <a:ext cx="368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CES-D dominates · range −0.15 to +0.25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finds shortcut through prior scores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1963400" y="5689600"/>
            <a:ext cx="368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SRH rises to #1 · range −0.06 to +0.06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Model learns genuine risk factors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8026400" y="6223000"/>
            <a:ext cx="7620000" cy="13335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30196"/>
              </a:srgbClr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229600" y="6350000"/>
            <a:ext cx="72136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3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contrast between Act 1 and Act 2 IS the RQ3 answer.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The ranking shift from CES-D-dominated to self-rated-health-dominated proves the model learns genuine onset predictors, not just persistence.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rotWithShape="1" flip="none">
          <a:gsLst>
            <a:gs pos="0">
              <a:srgbClr val="0A1F35"/>
            </a:gs>
            <a:gs pos="100000">
              <a:srgbClr val="0F2D4A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762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Clinical interpretability — LR coefficients and LGBM importance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Three independent methods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tell the same story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09600" y="1333500"/>
            <a:ext cx="635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LR standardised coefficients (log-odds per 1 SD, W6+W7)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09600" y="1676400"/>
          <a:ext cx="7112000" cy="254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https://kimi-img.moonshot.cn/pub/slides/okc/43xr4ociv7fsg/mnt/agents/output/elsa_depression_prediction/images/lr_coefficients_standardised.png">    </p:cNvPr>
          <p:cNvPicPr>
            <a:picLocks noChangeAspect="1"/>
          </p:cNvPicPr>
          <p:nvPr/>
        </p:nvPicPr>
        <p:blipFill>
          <a:blip r:embed="rId2"/>
          <a:srcRect l="0" r="0" t="24265" b="24265"/>
          <a:stretch/>
        </p:blipFill>
        <p:spPr>
          <a:xfrm>
            <a:off x="609600" y="4381500"/>
            <a:ext cx="7112000" cy="2540000"/>
          </a:xfrm>
          <a:prstGeom prst="roundRect">
            <a:avLst>
              <a:gd name="adj" fmla="val 6000"/>
            </a:avLst>
          </a:prstGeom>
        </p:spPr>
      </p:pic>
      <p:sp>
        <p:nvSpPr>
          <p:cNvPr id="7" name="Text 3"/>
          <p:cNvSpPr/>
          <p:nvPr/>
        </p:nvSpPr>
        <p:spPr>
          <a:xfrm>
            <a:off x="609600" y="6985000"/>
            <a:ext cx="7112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6: LR standardised coefficients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8026400" y="1333500"/>
            <a:ext cx="7620000" cy="2032000"/>
          </a:xfrm>
          <a:prstGeom prst="roundRect">
            <a:avLst>
              <a:gd name="adj" fmla="val 6000"/>
            </a:avLst>
          </a:prstGeom>
          <a:solidFill>
            <a:srgbClr val="1A4168">
              <a:alpha val="40000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229600" y="14605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Convergent evidence across three methods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0" y="1778000"/>
          <a:ext cx="7213600" cy="1460500"/>
        </p:xfrm>
        <a:graphic>
          <a:graphicData uri="http://schemas.openxmlformats.org/drawingml/2006/table">
            <a:tbl>
              <a:tblPr/>
              <a:tblGrid>
                <a:gridCol w="2019808"/>
                <a:gridCol w="1731264"/>
                <a:gridCol w="1731264"/>
                <a:gridCol w="1731264"/>
              </a:tblGrid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SHAP rank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coeff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LGBM gain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cesd_sc W7/W6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#1, #2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E867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+0.89/+0.70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Dominant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Self-rated health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#5–7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E867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+ve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 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mobility_count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#3–4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−ve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Top 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financial diff.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#8–10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E8674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+0.32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Mid-tier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8229600" y="3492500"/>
            <a:ext cx="7213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Three independent methods agree on ranking — confirms robustness of findings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8026400" y="3873500"/>
            <a:ext cx="7620000" cy="2032000"/>
          </a:xfrm>
          <a:prstGeom prst="roundRect">
            <a:avLst>
              <a:gd name="adj" fmla="val 8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30196"/>
              </a:srgbClr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8229600" y="40005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LGBM vs literature gap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229600" y="4318000"/>
            <a:ext cx="72136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LGBM AUC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0.843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vs RF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0.848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gap of only 0.005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LGBM achieves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recall 0.758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preferred for screening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Zhao et al. 2025 used cross-sectional setup, ~30% larger sample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Moderate sample size (~5,400 train) suits RF's bagging stability</a:t>
            </a:r>
            <a:endParaRPr lang="en-US" sz="1600" dirty="0"/>
          </a:p>
        </p:txBody>
      </p:sp>
      <p:pic>
        <p:nvPicPr>
          <p:cNvPr id="15" name="Image 1" descr="https://kimi-img.moonshot.cn/pub/slides/okc/43xr4ociv7fsg/mnt/agents/output/elsa_depression_prediction/images/lgbm_importance_top20.png">    </p:cNvPr>
          <p:cNvPicPr>
            <a:picLocks noChangeAspect="1"/>
          </p:cNvPicPr>
          <p:nvPr/>
        </p:nvPicPr>
        <p:blipFill>
          <a:blip r:embed="rId3"/>
          <a:srcRect l="0" r="0" t="24779" b="24779"/>
          <a:stretch/>
        </p:blipFill>
        <p:spPr>
          <a:xfrm>
            <a:off x="8026400" y="5996940"/>
            <a:ext cx="7620000" cy="2667000"/>
          </a:xfrm>
          <a:prstGeom prst="roundRect">
            <a:avLst>
              <a:gd name="adj" fmla="val 6000"/>
            </a:avLst>
          </a:prstGeom>
        </p:spPr>
      </p:pic>
      <p:sp>
        <p:nvSpPr>
          <p:cNvPr id="16" name="Text 10"/>
          <p:cNvSpPr/>
          <p:nvPr/>
        </p:nvSpPr>
        <p:spPr>
          <a:xfrm>
            <a:off x="8026400" y="8445500"/>
            <a:ext cx="7620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7: LightGBM — Top 20 features by gain importance (W6+W7, full config)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11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rotWithShape="1" flip="none">
          <a:gsLst>
            <a:gs pos="0">
              <a:srgbClr val="071525"/>
            </a:gs>
            <a:gs pos="100000">
              <a:srgbClr val="0D2540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Ensemble methods and calibration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1143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Stacking achieves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highest recall</a:t>
            </a:r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 — best for screening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7366000" cy="2667000"/>
          </a:xfrm>
          <a:prstGeom prst="roundRect">
            <a:avLst>
              <a:gd name="adj" fmla="val 6000"/>
            </a:avLst>
          </a:prstGeom>
          <a:solidFill>
            <a:srgbClr val="1A4168">
              <a:alpha val="40000"/>
            </a:srgbClr>
          </a:solidFill>
          <a:ln w="12700">
            <a:solidFill>
              <a:srgbClr val="FFFFFF">
                <a:alpha val="12549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4605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Model comparison — W6+W7 arm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1778000"/>
          <a:ext cx="6959600" cy="2032000"/>
        </p:xfrm>
        <a:graphic>
          <a:graphicData uri="http://schemas.openxmlformats.org/drawingml/2006/table">
            <a:tbl>
              <a:tblPr/>
              <a:tblGrid>
                <a:gridCol w="1948688"/>
                <a:gridCol w="974344"/>
                <a:gridCol w="974344"/>
                <a:gridCol w="974344"/>
                <a:gridCol w="974344"/>
                <a:gridCol w="1113536"/>
              </a:tblGrid>
              <a:tr h="290286"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Model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F1b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F1mac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Recall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="1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Precision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D4A"/>
                    </a:solidFill>
                  </a:tcPr>
                </a:tc>
              </a:tr>
              <a:tr h="290286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LR baseline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0.835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0.559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0.711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0.697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0.467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90286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RF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0.727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0.491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290286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XGB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0.585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0.734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0.676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0.516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90286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LGBM tuned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0.843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0.577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0.758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0.466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  <a:tr h="290286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Soft-vote ens.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0.847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0.582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0.728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0.709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0.494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3137"/>
                      </a:srgbClr>
                    </a:solidFill>
                  </a:tcPr>
                </a:tc>
              </a:tr>
              <a:tr h="290286"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Stack RF+LGBM+LR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0.841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0.563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0.718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0FB38D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0.773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0.434</a:t>
                      </a:r>
                      <a:endParaRPr lang="en-US" sz="11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569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09600" y="41910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2800" y="4318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soft-vote didn't improve AUC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800" y="4597400"/>
            <a:ext cx="69596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RF, XGB, LGBM trained on same data →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correlated errors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Averaging correlated predictions regresses toward mean — no diversity benefit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Ensemble helps most with diverse model families (LR + tree + neural net)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09600" y="6032500"/>
            <a:ext cx="7366000" cy="12954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30196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2800" y="60706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Stacking outcome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800" y="6350000"/>
            <a:ext cx="695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AUC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0.841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below best individual RF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Recall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0.773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</a:t>
            </a:r>
            <a:pPr>
              <a:lnSpc>
                <a:spcPct val="150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highest of any configuration tested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 meta-learner weights LGBM more heavily → sensitivity focus</a:t>
            </a:r>
            <a:endParaRPr lang="en-US" sz="1600" dirty="0"/>
          </a:p>
        </p:txBody>
      </p:sp>
      <p:pic>
        <p:nvPicPr>
          <p:cNvPr id="13" name="Image 0" descr="https://kimi-img.moonshot.cn/pub/slides/okc/43xr4ociv7fsg/mnt/agents/output/elsa_depression_prediction/images/calibration.png">    </p:cNvPr>
          <p:cNvPicPr>
            <a:picLocks noChangeAspect="1"/>
          </p:cNvPicPr>
          <p:nvPr/>
        </p:nvPicPr>
        <p:blipFill>
          <a:blip r:embed="rId1"/>
          <a:srcRect l="6992" r="6992" t="0" b="0"/>
          <a:stretch/>
        </p:blipFill>
        <p:spPr>
          <a:xfrm>
            <a:off x="8280400" y="1333500"/>
            <a:ext cx="7366000" cy="3556000"/>
          </a:xfrm>
          <a:prstGeom prst="roundRect">
            <a:avLst>
              <a:gd name="adj" fmla="val 6000"/>
            </a:avLst>
          </a:prstGeom>
        </p:spPr>
      </p:pic>
      <p:sp>
        <p:nvSpPr>
          <p:cNvPr id="14" name="Text 10"/>
          <p:cNvSpPr/>
          <p:nvPr/>
        </p:nvSpPr>
        <p:spPr>
          <a:xfrm>
            <a:off x="8280400" y="4953000"/>
            <a:ext cx="736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Fig. 8: Calibration curves — best RF model, W6+W7 arm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8280400" y="5308600"/>
            <a:ext cx="7366000" cy="18415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30196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8483600" y="54356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80" kern="0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Calibration — are probabilities reliable?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8483600" y="5740400"/>
            <a:ext cx="695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All tree models: 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underconfident at low probabilities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LR is best calibrated</a:t>
            </a:r>
            <a:pPr>
              <a:lnSpc>
                <a:spcPct val="155000"/>
              </a:lnSpc>
              <a:spcBef>
                <a:spcPts val="10"/>
              </a:spcBef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known property of logistic regression</a:t>
            </a:r>
            <a:endParaRPr lang="en-US" sz="1600" dirty="0"/>
          </a:p>
          <a:p>
            <a:pPr marL="254000" indent="-254000">
              <a:lnSpc>
                <a:spcPct val="155000"/>
              </a:lnSpc>
              <a:spcBef>
                <a:spcPts val="10"/>
              </a:spcBef>
              <a:buSzPct val="100000"/>
              <a:buChar char="•"/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Isotonic regression on RF: AUC maintained at 0.848, probability reliability improved in p=0.2–0.6 range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8280400" y="7137400"/>
            <a:ext cx="7366000" cy="889000"/>
          </a:xfrm>
          <a:prstGeom prst="roundRect">
            <a:avLst>
              <a:gd name="adj" fmla="val 8000"/>
            </a:avLst>
          </a:prstGeom>
          <a:solidFill>
            <a:srgbClr val="1A4168">
              <a:alpha val="50196"/>
            </a:srgbClr>
          </a:solidFill>
          <a:ln w="12700">
            <a:solidFill>
              <a:srgbClr val="C9973A">
                <a:alpha val="50196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34400" y="7264400"/>
            <a:ext cx="6858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00" b="1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Deployment recommendation:</a:t>
            </a:r>
            <a:pPr>
              <a:lnSpc>
                <a:spcPct val="150000"/>
              </a:lnSpc>
            </a:pPr>
            <a:r>
              <a:rPr lang="en-US" sz="12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Calibrated RF for risk scoring where probability matters · Uncalibrated RF for binary screening · LR for clinical explainability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rotWithShape="1" flip="none">
          <a:gsLst>
            <a:gs pos="0">
              <a:srgbClr val="062820"/>
            </a:gs>
            <a:gs pos="100000">
              <a:srgbClr val="0A3D2E"/>
            </a:gs>
          </a:gsLst>
          <a:lin ang="8700000" scaled="1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55600"/>
            <a:ext cx="508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0" spc="150" kern="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Conclusions and limitations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600" y="635000"/>
            <a:ext cx="8890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Three questions. </a:t>
            </a:r>
            <a:pPr>
              <a:lnSpc>
                <a:spcPct val="120000"/>
              </a:lnSpc>
            </a:pPr>
            <a:r>
              <a:rPr lang="en-US" sz="28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Three answers.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600" y="13335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0D8A6E">
              <a:alpha val="10196"/>
            </a:srgbClr>
          </a:solidFill>
          <a:ln w="12700">
            <a:solidFill>
              <a:srgbClr val="0FB38D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1460500"/>
            <a:ext cx="609600" cy="254000"/>
          </a:xfrm>
          <a:prstGeom prst="roundRect">
            <a:avLst>
              <a:gd name="adj" fmla="val 15000"/>
            </a:avLst>
          </a:prstGeom>
          <a:solidFill>
            <a:srgbClr val="0D8A6E">
              <a:alpha val="30196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12800" y="1460500"/>
            <a:ext cx="609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0FB38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549400" y="1422400"/>
            <a:ext cx="355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Yes.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AUC 0.848 from non-clinical survey data. Competitive with Zhao et al. 2025 benchmark.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1333500"/>
            <a:ext cx="4699000" cy="1143000"/>
          </a:xfrm>
          <a:prstGeom prst="roundRect">
            <a:avLst>
              <a:gd name="adj" fmla="val 8000"/>
            </a:avLst>
          </a:prstGeom>
          <a:solidFill>
            <a:srgbClr val="C9973A">
              <a:alpha val="7059"/>
            </a:srgbClr>
          </a:solidFill>
          <a:ln w="12700">
            <a:solidFill>
              <a:srgbClr val="C9973A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91200" y="1460500"/>
            <a:ext cx="609600" cy="254000"/>
          </a:xfrm>
          <a:prstGeom prst="roundRect">
            <a:avLst>
              <a:gd name="adj" fmla="val 15000"/>
            </a:avLst>
          </a:prstGeom>
          <a:solidFill>
            <a:srgbClr val="C9973A">
              <a:alpha val="25098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791200" y="1460500"/>
            <a:ext cx="609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D4A84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527800" y="1422400"/>
            <a:ext cx="3556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4-year (AUC 0.819) nearly as effective as 2-year (0.824). Adding second wave: +0.024 AUC. </a:t>
            </a:r>
            <a:pPr>
              <a:lnSpc>
                <a:spcPct val="140000"/>
              </a:lnSpc>
            </a:pPr>
            <a:r>
              <a:rPr lang="en-US" sz="11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Single-wave screening is viable.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0566400" y="1333500"/>
            <a:ext cx="5080000" cy="1143000"/>
          </a:xfrm>
          <a:prstGeom prst="roundRect">
            <a:avLst>
              <a:gd name="adj" fmla="val 8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69600" y="1460500"/>
            <a:ext cx="609600" cy="254000"/>
          </a:xfrm>
          <a:prstGeom prst="roundRect">
            <a:avLst>
              <a:gd name="adj" fmla="val 15000"/>
            </a:avLst>
          </a:prstGeom>
          <a:solidFill>
            <a:srgbClr val="C94F2C">
              <a:alpha val="25098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769600" y="1460500"/>
            <a:ext cx="609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000" dirty="0">
                <a:solidFill>
                  <a:srgbClr val="E8674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RQ3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06200" y="1422400"/>
            <a:ext cx="393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40000"/>
              </a:lnSpc>
            </a:pPr>
            <a:r>
              <a:rPr lang="en-US" sz="1100" b="1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91% of AUC retained</a:t>
            </a:r>
            <a:pPr>
              <a:lnSpc>
                <a:spcPct val="140000"/>
              </a:lnSpc>
            </a:pPr>
            <a:r>
              <a:rPr lang="en-US" sz="11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without depression history. Predictors: self-rated health, mobility, financial difficulty, sex.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09600" y="2667000"/>
            <a:ext cx="381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Deployment recommendations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600" y="2984500"/>
            <a:ext cx="3556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2000" y="3022600"/>
            <a:ext cx="3251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000" b="1" dirty="0">
                <a:solidFill>
                  <a:srgbClr val="0FB38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Maximum case detection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Stacking ensemble or LGBM — recall 0.758–0.773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343400" y="29845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95800" y="3022600"/>
            <a:ext cx="2489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Best discrimination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RF tuned — AUC 0.848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0" y="2984500"/>
            <a:ext cx="35560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67600" y="3022600"/>
            <a:ext cx="32512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000" b="1" dirty="0">
                <a:solidFill>
                  <a:srgbClr val="D4A84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explainability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Logistic Regression — AUC 0.835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049000" y="2984500"/>
            <a:ext cx="4597400" cy="6350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01400" y="3022600"/>
            <a:ext cx="42926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35000"/>
              </a:lnSpc>
            </a:pPr>
            <a:r>
              <a:rPr lang="en-US" sz="1000" b="1" dirty="0">
                <a:solidFill>
                  <a:srgbClr val="E8674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Risk scoring (probabilities)</a:t>
            </a:r>
            <a:endParaRPr lang="en-US" sz="1600" dirty="0"/>
          </a:p>
          <a:p>
            <a:pPr>
              <a:lnSpc>
                <a:spcPct val="135000"/>
              </a:lnSpc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Calibrated RF — AUC preserved at 0.848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09600" y="3810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09600" y="4127500"/>
            <a:ext cx="7366000" cy="1460500"/>
          </a:xfrm>
          <a:prstGeom prst="roundRect">
            <a:avLst>
              <a:gd name="adj" fmla="val 8000"/>
            </a:avLst>
          </a:prstGeom>
          <a:solidFill>
            <a:srgbClr val="C94F2C">
              <a:alpha val="10196"/>
            </a:srgbClr>
          </a:solidFill>
          <a:ln w="12700">
            <a:solidFill>
              <a:srgbClr val="E8674A">
                <a:alpha val="30196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2800" y="4216400"/>
            <a:ext cx="695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Survivorship bias — inner join retains healthier, wealthier participants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CES-D binary threshold loses spectrum information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Generalisation limited to English adults aged 50+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ndepriv dropped — area-level deprivation excluded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30-iteration tuning may under-explore LGBM's space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280400" y="38100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spc="80" kern="0" dirty="0">
                <a:solidFill>
                  <a:srgbClr val="0FB38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Future work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280400" y="4127500"/>
            <a:ext cx="7366000" cy="1460500"/>
          </a:xfrm>
          <a:prstGeom prst="roundRect">
            <a:avLst>
              <a:gd name="adj" fmla="val 8000"/>
            </a:avLst>
          </a:prstGeom>
          <a:solidFill>
            <a:srgbClr val="FFFFFF">
              <a:alpha val="5098"/>
            </a:srgbClr>
          </a:solidFill>
          <a:ln w="12700">
            <a:solidFill>
              <a:srgbClr val="FFFFFF">
                <a:alpha val="11765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83600" y="4216400"/>
            <a:ext cx="695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Continuous CES-D regression instead of binary threshold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Wave 9 outcome prediction extending the horizon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Clinical deployment trial with per-context threshold optimisation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Larger ensemble diversity (LR + tree + neural net)</a:t>
            </a:r>
            <a:endParaRPr lang="en-US" sz="1600" dirty="0"/>
          </a:p>
          <a:p>
            <a:pPr marL="254000" indent="-254000">
              <a:lnSpc>
                <a:spcPct val="150000"/>
              </a:lnSpc>
              <a:spcBef>
                <a:spcPts val="10"/>
              </a:spcBef>
              <a:buSzPct val="100000"/>
              <a:buChar char="•"/>
            </a:pPr>
            <a:r>
              <a:rPr lang="en-US" sz="1000" dirty="0">
                <a:solidFill>
                  <a:srgbClr val="FFFFFF">
                    <a:alpha val="81569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Explainability tools beyond SHAP for clinical communication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609600" y="5778500"/>
            <a:ext cx="15036800" cy="482600"/>
          </a:xfrm>
          <a:prstGeom prst="roundRect">
            <a:avLst>
              <a:gd name="adj" fmla="val 6000"/>
            </a:avLst>
          </a:prstGeom>
          <a:solidFill>
            <a:srgbClr val="000000">
              <a:alpha val="18824"/>
            </a:srgbClr>
          </a:solidFill>
          <a:ln w="12700">
            <a:solidFill>
              <a:srgbClr val="0FB38D">
                <a:alpha val="25098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2800" y="5842000"/>
            <a:ext cx="146304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FFFFFF">
                    <a:alpha val="62745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Dataset: ELSA UKDS Study 5050 · Banks et al. 2006 · Steffick 2000 · Zhao et al. 2025 · Ohrnberger et al. 2017 · Zaninotto et al. 2019 · Kessler 2003 · Bergstra and Bengio 2012 · Alexopoulos 2005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09600" y="6477000"/>
            <a:ext cx="7620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Thank you. </a:t>
            </a:r>
            <a:pPr>
              <a:lnSpc>
                <a:spcPct val="100000"/>
              </a:lnSpc>
            </a:pPr>
            <a:r>
              <a:rPr lang="en-US" sz="2000" i="1" dirty="0">
                <a:solidFill>
                  <a:srgbClr val="FFFFFF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09600" y="7175500"/>
            <a:ext cx="889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Akeeb Lawel · Fiyin Akano · Zannat Chowdhury Sagar · Giridhar Nampally · Pushkar Jadav · Poorna Golla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100" dirty="0">
                <a:solidFill>
                  <a:srgbClr val="8C9BA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University of Surrey — AI and Healthcare Module 2025/26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5240000" y="8763000"/>
            <a:ext cx="63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000" dirty="0">
                <a:solidFill>
                  <a:srgbClr val="8C9BA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 / 13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ELSA Depression Prediction — AI &amp; Healthcare MSc Project</dc:title>
  <dc:subject>ELSA Depression Prediction — AI &amp; Healthcare MSc Project</dc:subject>
  <dc:creator>Kimi</dc:creator>
  <cp:lastModifiedBy>Kimi</cp:lastModifiedBy>
  <cp:revision>1</cp:revision>
  <dcterms:created xsi:type="dcterms:W3CDTF">2026-05-05T05:20:25Z</dcterms:created>
  <dcterms:modified xsi:type="dcterms:W3CDTF">2026-05-05T05:20:25Z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{"Label":"ELSA Depression Prediction — AI &amp; Healthcare MSc Project","ContentProducer":"001191110108MACG2KBH8F10000","ProduceID":"19df61fc-b3a2-8fcf-8000-0000b8671749","ReservedCode1":"","ContentPropagator":"001191110108MACG2KBH8F20000","PropagateID":"19df61fc-b3a2-8fcf-8000-0000b8671749","ReservedCode2":""}</vt:lpwstr>
  </property>
</Properties>
</file>