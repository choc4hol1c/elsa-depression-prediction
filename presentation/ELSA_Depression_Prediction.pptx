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E5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0584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Predicting Depression in Older Adults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10058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Early prediction from 4 years out using ELSA longitudinal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058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Akeeb Lawel  |  Fiyin Akano  |  Zannat Chowdhury Sagar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0058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Giridhar Nampally  |  Pushkar Jadav  |  Poorna Golla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F4F5F7"/>
                </a:solidFill>
                <a:latin typeface="Calibri"/>
              </a:rPr>
              <a:t>MSc Artificial Intelligence  •  AI and Healthcare  •  2025/26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Depression in older adults is underdiagnosed and undertreated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86F82"/>
                </a:solidFill>
                <a:latin typeface="Calibri"/>
              </a:rPr>
              <a:t>Why this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F2D5C"/>
                </a:solidFill>
                <a:latin typeface="Calibri"/>
              </a:rPr>
              <a:t>WHO</a:t>
            </a:r>
            <a:r>
              <a:rPr sz="1500" b="0">
                <a:solidFill>
                  <a:srgbClr val="1F2D5C"/>
                </a:solidFill>
                <a:latin typeface="Calibri"/>
              </a:rPr>
              <a:t>: 7% of adults over 60 globally have depression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2D5C"/>
                </a:solidFill>
                <a:latin typeface="Calibri"/>
              </a:rPr>
              <a:t>• Most never receive a diagnosis or treatment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2D5C"/>
                </a:solidFill>
                <a:latin typeface="Calibri"/>
              </a:rPr>
              <a:t>• Stigma, somatic presentation, comorbidity, time-poor primary care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2D5C"/>
                </a:solidFill>
                <a:latin typeface="Calibri"/>
              </a:rPr>
              <a:t>• Linked to worse outcomes in CVD, dementia, and mortality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2D5C"/>
                </a:solidFill>
                <a:latin typeface="Calibri"/>
              </a:rPr>
              <a:t>• Routine screening is impractical at population scale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56B5C"/>
                </a:solidFill>
                <a:latin typeface="Calibri"/>
              </a:rPr>
              <a:t>Our research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9164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1F2D5C"/>
                </a:solidFill>
                <a:latin typeface="Calibri"/>
              </a:rPr>
              <a:t>RQ1</a:t>
            </a:r>
            <a:r>
              <a:rPr sz="1500" b="0">
                <a:solidFill>
                  <a:srgbClr val="1F2D5C"/>
                </a:solidFill>
                <a:latin typeface="Calibri"/>
              </a:rPr>
              <a:t>  Can ML predict depression onset 2 to 4 years ahead from survey data?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1F2D5C"/>
                </a:solidFill>
                <a:latin typeface="Calibri"/>
              </a:rPr>
              <a:t>RQ2</a:t>
            </a:r>
            <a:r>
              <a:rPr sz="1500" b="0">
                <a:solidFill>
                  <a:srgbClr val="1F2D5C"/>
                </a:solidFill>
                <a:latin typeface="Calibri"/>
              </a:rPr>
              <a:t>  Does longitudinal data beat single-wave models?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1F2D5C"/>
                </a:solidFill>
                <a:latin typeface="Calibri"/>
              </a:rPr>
              <a:t>RQ3</a:t>
            </a:r>
            <a:r>
              <a:rPr sz="1500" b="0">
                <a:solidFill>
                  <a:srgbClr val="1F2D5C"/>
                </a:solidFill>
                <a:latin typeface="Calibri"/>
              </a:rPr>
              <a:t>  What predicts depression beyond prior depression history?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303520"/>
            <a:ext cx="11247120" cy="8686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413248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1F2D5C"/>
                </a:solidFill>
                <a:latin typeface="Calibri"/>
              </a:rPr>
              <a:t>Approach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Train models on Wave 6 + Wave 7 ELSA features to predict CES-D ≥ 3 at Wave 8.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Data and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ELSA Waves 6, 7, 8 — 7,211 participants present in all three waves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240280" cy="9601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22402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5C"/>
                </a:solidFill>
                <a:latin typeface="Calibri"/>
              </a:rPr>
              <a:t>7,211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47088"/>
            <a:ext cx="2240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Participants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1280160"/>
            <a:ext cx="2240280" cy="9601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88920" y="1371600"/>
            <a:ext cx="22402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5C"/>
                </a:solidFill>
                <a:latin typeface="Calibri"/>
              </a:rPr>
              <a:t>19.0%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1847088"/>
            <a:ext cx="2240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Depression prevalence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280160"/>
            <a:ext cx="2240280" cy="9601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1371600"/>
            <a:ext cx="22402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5C"/>
                </a:solidFill>
                <a:latin typeface="Calibri"/>
              </a:rPr>
              <a:t>138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847088"/>
            <a:ext cx="2240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W6+W7 features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59" y="1280160"/>
            <a:ext cx="2240280" cy="9601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52359" y="1371600"/>
            <a:ext cx="22402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5C"/>
                </a:solidFill>
                <a:latin typeface="Calibri"/>
              </a:rPr>
              <a:t>4 algorithms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59" y="1847088"/>
            <a:ext cx="2240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LR, RF, XGB, LGBM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84080" y="1280160"/>
            <a:ext cx="2240280" cy="9601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0" y="1371600"/>
            <a:ext cx="22402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5C"/>
                </a:solidFill>
                <a:latin typeface="Calibri"/>
              </a:rPr>
              <a:t>3 arms × 5 configs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1847088"/>
            <a:ext cx="2240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60 experiments</a:t>
            </a:r>
          </a:p>
        </p:txBody>
      </p:sp>
      <p:pic>
        <p:nvPicPr>
          <p:cNvPr id="20" name="Picture 19" descr="outcom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14600"/>
            <a:ext cx="6949440" cy="244517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0" y="2606040"/>
            <a:ext cx="4114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186F82"/>
                </a:solidFill>
                <a:latin typeface="Calibri"/>
              </a:rPr>
              <a:t>Pipeline (run-once Colab notebook)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3017520"/>
            <a:ext cx="4206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1F2D5C"/>
                </a:solidFill>
                <a:latin typeface="Calibri"/>
              </a:rPr>
              <a:t>• Inner-join W6+W7+W8 on idauniq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F2D5C"/>
                </a:solidFill>
                <a:latin typeface="Calibri"/>
              </a:rPr>
              <a:t>• Recode survey codes (-1, -8, -9 → NaN)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F2D5C"/>
                </a:solidFill>
                <a:latin typeface="Calibri"/>
              </a:rPr>
              <a:t>• Drop &gt;40% missing (train-only)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F2D5C"/>
                </a:solidFill>
                <a:latin typeface="Calibri"/>
              </a:rPr>
              <a:t>• Engineer 10 derived features inc. CES-D change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F2D5C"/>
                </a:solidFill>
                <a:latin typeface="Calibri"/>
              </a:rPr>
              <a:t>• 75/25 stratified split, 5-fold CV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F2D5C"/>
                </a:solidFill>
                <a:latin typeface="Calibri"/>
              </a:rPr>
              <a:t>• RandomizedSearchCV tuning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1F2D5C"/>
                </a:solidFill>
                <a:latin typeface="Calibri"/>
              </a:rPr>
              <a:t>• Calibration via isotonic regression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47120" cy="5943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55C66"/>
                </a:solidFill>
                <a:latin typeface="Calibri"/>
              </a:rPr>
              <a:t>Methodological note  —  Use IFS-validated cesd_sc (range 0–8, prevalence 19%); raw PSced reconstruction produced an artefactual range of 8–16 (74%)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Random Forest combining W6+W7 — AUC 0.85 on held-out test set</a:t>
            </a:r>
          </a:p>
        </p:txBody>
      </p:sp>
      <p:pic>
        <p:nvPicPr>
          <p:cNvPr id="5" name="Picture 4" descr="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966604" cy="3383280"/>
          </a:xfrm>
          <a:prstGeom prst="rect">
            <a:avLst/>
          </a:prstGeom>
        </p:spPr>
      </p:pic>
      <p:pic>
        <p:nvPicPr>
          <p:cNvPr id="6" name="Picture 5" descr="pr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371600"/>
            <a:ext cx="3966604" cy="3383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029200"/>
            <a:ext cx="11247120" cy="14173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102352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1F2D5C"/>
                </a:solidFill>
                <a:latin typeface="Calibri"/>
              </a:rPr>
              <a:t>Best tuned model per arm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1F2D5C"/>
                </a:solidFill>
                <a:latin typeface="Calibri"/>
              </a:rPr>
              <a:t>W6 only (~4 yr)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5C"/>
                </a:solidFill>
                <a:latin typeface="Calibri"/>
              </a:rPr>
              <a:t>AUC 0.819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26480"/>
            <a:ext cx="3657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55C66"/>
                </a:solidFill>
                <a:latin typeface="Calibri"/>
              </a:rPr>
              <a:t>F1 0.532  Recall 0.732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548640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1F2D5C"/>
                </a:solidFill>
                <a:latin typeface="Calibri"/>
              </a:rPr>
              <a:t>W7 only (~2 yr)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5C"/>
                </a:solidFill>
                <a:latin typeface="Calibri"/>
              </a:rPr>
              <a:t>AUC 0.824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6126480"/>
            <a:ext cx="3657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55C66"/>
                </a:solidFill>
                <a:latin typeface="Calibri"/>
              </a:rPr>
              <a:t>F1 0.545  Recall 0.668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9" y="548640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E56B5C"/>
                </a:solidFill>
                <a:latin typeface="Calibri"/>
              </a:rPr>
              <a:t>W6+W7 combined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56B5C"/>
                </a:solidFill>
                <a:latin typeface="Calibri"/>
              </a:rPr>
              <a:t>AUC 0.848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6126480"/>
            <a:ext cx="3657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55C66"/>
                </a:solidFill>
                <a:latin typeface="Calibri"/>
              </a:rPr>
              <a:t>F1 0.582  Recall 0.714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What drives the model?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SHAP analysis reveals depression's biopsychosocial footprint</a:t>
            </a:r>
          </a:p>
        </p:txBody>
      </p:sp>
      <p:pic>
        <p:nvPicPr>
          <p:cNvPr id="5" name="Picture 4" descr="shap_bar_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003801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280160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86F82"/>
                </a:solidFill>
                <a:latin typeface="Calibri"/>
              </a:rPr>
              <a:t>Top predictors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691640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Prior CES-D</a:t>
            </a:r>
            <a:r>
              <a:rPr sz="1400" b="0">
                <a:solidFill>
                  <a:srgbClr val="1F2D5C"/>
                </a:solidFill>
                <a:latin typeface="Calibri"/>
              </a:rPr>
              <a:t>  state dependence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Self-rated health</a:t>
            </a:r>
            <a:r>
              <a:rPr sz="1400" b="0">
                <a:solidFill>
                  <a:srgbClr val="1F2D5C"/>
                </a:solidFill>
                <a:latin typeface="Calibri"/>
              </a:rPr>
              <a:t>  subjective vitality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Mobility count</a:t>
            </a:r>
            <a:r>
              <a:rPr sz="1400" b="0">
                <a:solidFill>
                  <a:srgbClr val="1F2D5C"/>
                </a:solidFill>
                <a:latin typeface="Calibri"/>
              </a:rPr>
              <a:t>  physical function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CES-D change</a:t>
            </a:r>
            <a:r>
              <a:rPr sz="1400" b="0">
                <a:solidFill>
                  <a:srgbClr val="1F2D5C"/>
                </a:solidFill>
                <a:latin typeface="Calibri"/>
              </a:rPr>
              <a:t>  worsening trajectory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Financial difficulty</a:t>
            </a:r>
            <a:r>
              <a:rPr sz="1400" b="0">
                <a:solidFill>
                  <a:srgbClr val="1F2D5C"/>
                </a:solidFill>
                <a:latin typeface="Calibri"/>
              </a:rPr>
              <a:t>  socioeconomic strain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931920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56B5C"/>
                </a:solidFill>
                <a:latin typeface="Calibri"/>
              </a:rPr>
              <a:t>Why this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343400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1F2D5C"/>
                </a:solidFill>
                <a:latin typeface="Calibri"/>
              </a:rPr>
              <a:t>• Depression leaves a measurable footprint in physical health and finances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1F2D5C"/>
                </a:solidFill>
                <a:latin typeface="Calibri"/>
              </a:rPr>
              <a:t>• Aligns with biopsychosocial model of late-life depression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1F2D5C"/>
                </a:solidFill>
                <a:latin typeface="Calibri"/>
              </a:rPr>
              <a:t>• Non-mental-health features carry independent signal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Beyond depression 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Even without prior CES-D, the model still predicts well</a:t>
            </a:r>
          </a:p>
        </p:txBody>
      </p:sp>
      <p:pic>
        <p:nvPicPr>
          <p:cNvPr id="5" name="Picture 4" descr="leakag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9179859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371600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86F82"/>
                </a:solidFill>
                <a:latin typeface="Calibri"/>
              </a:rPr>
              <a:t>The leakage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783080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Drop every CES-D feature; retrain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Tests: is the model just "depressed people stay depressed"?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246120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56B5C"/>
                </a:solidFill>
                <a:latin typeface="Calibri"/>
              </a:rPr>
              <a:t>What we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3657600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AUC 0.85 → 0.77</a:t>
            </a:r>
            <a:r>
              <a:rPr sz="1300" b="0">
                <a:solidFill>
                  <a:srgbClr val="1F2D5C"/>
                </a:solidFill>
                <a:latin typeface="Calibri"/>
              </a:rPr>
              <a:t> with no prior CES-D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1F2D5C"/>
                </a:solidFill>
                <a:latin typeface="Calibri"/>
              </a:rPr>
              <a:t>• Drop is real ( 0.07) but model still useful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1F2D5C"/>
                </a:solidFill>
                <a:latin typeface="Calibri"/>
              </a:rPr>
              <a:t>• Health, mobility, finances carry independent signal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1F2D5C"/>
                </a:solidFill>
                <a:latin typeface="Calibri"/>
              </a:rPr>
              <a:t>• Clinical novelty: predict from non-mental-health 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486400"/>
            <a:ext cx="11247120" cy="86868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57784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E56B5C"/>
                </a:solidFill>
                <a:latin typeface="Calibri"/>
              </a:rPr>
              <a:t>Headline finding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Depression risk is detectable from physical health and social factors alone — a viable population-screening signal.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Limitations and future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Where the model can and cannot be trusted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56B5C"/>
                </a:solidFill>
                <a:latin typeface="Calibri"/>
              </a:rPr>
              <a:t>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Screening, not diagnosis</a:t>
            </a:r>
            <a:r>
              <a:rPr sz="1300" b="0">
                <a:solidFill>
                  <a:srgbClr val="1F2D5C"/>
                </a:solidFill>
                <a:latin typeface="Calibri"/>
              </a:rPr>
              <a:t>  CES-D ≥ 3 flags symptoms, not MDD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Observational design</a:t>
            </a:r>
            <a:r>
              <a:rPr sz="1300" b="0">
                <a:solidFill>
                  <a:srgbClr val="1F2D5C"/>
                </a:solidFill>
                <a:latin typeface="Calibri"/>
              </a:rPr>
              <a:t>  associations, not causes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Attrition bias</a:t>
            </a:r>
            <a:r>
              <a:rPr sz="1300" b="0">
                <a:solidFill>
                  <a:srgbClr val="1F2D5C"/>
                </a:solidFill>
                <a:latin typeface="Calibri"/>
              </a:rPr>
              <a:t>  ~30% of W6 sample excluded; likely sicker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State dependence</a:t>
            </a:r>
            <a:r>
              <a:rPr sz="1300" b="0">
                <a:solidFill>
                  <a:srgbClr val="1F2D5C"/>
                </a:solidFill>
                <a:latin typeface="Calibri"/>
              </a:rPr>
              <a:t>  prior CES-D dominates the full model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Generalisability</a:t>
            </a:r>
            <a:r>
              <a:rPr sz="1300" b="0">
                <a:solidFill>
                  <a:srgbClr val="1F2D5C"/>
                </a:solidFill>
                <a:latin typeface="Calibri"/>
              </a:rPr>
              <a:t>  English 50+ population only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Precision ≈ 49%</a:t>
            </a:r>
            <a:r>
              <a:rPr sz="1300" b="0">
                <a:solidFill>
                  <a:srgbClr val="1F2D5C"/>
                </a:solidFill>
                <a:latin typeface="Calibri"/>
              </a:rPr>
              <a:t>  ~half of flagged are false positives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86F82"/>
                </a:solidFill>
                <a:latin typeface="Calibri"/>
              </a:rPr>
              <a:t>Future directions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Incident-only model</a:t>
            </a:r>
            <a:r>
              <a:rPr sz="1300" b="0">
                <a:solidFill>
                  <a:srgbClr val="1F2D5C"/>
                </a:solidFill>
                <a:latin typeface="Calibri"/>
              </a:rPr>
              <a:t>  exclude already-depressed at baseline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External validation</a:t>
            </a:r>
            <a:r>
              <a:rPr sz="1300" b="0">
                <a:solidFill>
                  <a:srgbClr val="1F2D5C"/>
                </a:solidFill>
                <a:latin typeface="Calibri"/>
              </a:rPr>
              <a:t>  HRS (US), SHARE (EU), TILDA (Ireland)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Biomarkers</a:t>
            </a:r>
            <a:r>
              <a:rPr sz="1300" b="0">
                <a:solidFill>
                  <a:srgbClr val="1F2D5C"/>
                </a:solidFill>
                <a:latin typeface="Calibri"/>
              </a:rPr>
              <a:t>  add ELSA nurse-visit blood data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Trajectory models</a:t>
            </a:r>
            <a:r>
              <a:rPr sz="1300" b="0">
                <a:solidFill>
                  <a:srgbClr val="1F2D5C"/>
                </a:solidFill>
                <a:latin typeface="Calibri"/>
              </a:rPr>
              <a:t>  RNNs across multiple waves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Fairness audit</a:t>
            </a:r>
            <a:r>
              <a:rPr sz="1300" b="0">
                <a:solidFill>
                  <a:srgbClr val="1F2D5C"/>
                </a:solidFill>
                <a:latin typeface="Calibri"/>
              </a:rPr>
              <a:t>  calibration across sex, ethnicity, SES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Cost-effectiveness</a:t>
            </a:r>
            <a:r>
              <a:rPr sz="1300" b="0">
                <a:solidFill>
                  <a:srgbClr val="1F2D5C"/>
                </a:solidFill>
                <a:latin typeface="Calibri"/>
              </a:rPr>
              <a:t>  QALY analysis with intervention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532120"/>
            <a:ext cx="11247120" cy="8686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62356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1F2D5C"/>
                </a:solidFill>
                <a:latin typeface="Calibri"/>
              </a:rPr>
              <a:t>Conclusion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Routine survey data can flag future depression with clinically useful accuracy 2-4 years in advance.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