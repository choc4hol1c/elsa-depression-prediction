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5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Predicting Depression in Older Adults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Early prediction from 4 years out using ELSA longitudinal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Akeeb Lawel  •  Fiyin Akano  •  Zannat Chowdhury Sagar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Giridhar Nampally  •  Pushkar Jadav  •  Poorna Golla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4F5F7"/>
                </a:solidFill>
                <a:latin typeface="Calibri"/>
              </a:rPr>
              <a:t>MSc Artificial Intelligence  •  AI and Healthcare  • 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Late-life depression: prevalent, disabling, and largely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The clinical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D5C"/>
                </a:solidFill>
                <a:latin typeface="Calibri"/>
              </a:rPr>
              <a:t>WHO</a:t>
            </a:r>
            <a:r>
              <a:rPr sz="1500" b="0">
                <a:solidFill>
                  <a:srgbClr val="1F2D5C"/>
                </a:solidFill>
                <a:latin typeface="Calibri"/>
              </a:rPr>
              <a:t>  ~7% of adults 60+ globally have depression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Most never receive a diagnosis or treatment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Drivers: stigma, somatic presentation, comorbidity, time-poor primary care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Linked to worse outcomes in CVD, dementia, all-cause mortality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Universal screening is impractical at population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The ML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Routine survey or health-record data is already collected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ML can flag the highest-risk for clinician follow-up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2D5C"/>
                </a:solidFill>
                <a:latin typeface="Calibri"/>
              </a:rPr>
              <a:t>• Saves clinician time — better than untargeted screening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5C"/>
                </a:solidFill>
                <a:latin typeface="Calibri"/>
              </a:rPr>
              <a:t>Most beneficial when prediction is </a:t>
            </a:r>
            <a:r>
              <a:rPr sz="1500" b="1">
                <a:solidFill>
                  <a:srgbClr val="1F2D5C"/>
                </a:solidFill>
                <a:latin typeface="Calibri"/>
              </a:rPr>
              <a:t>early enough</a:t>
            </a:r>
            <a:r>
              <a:rPr sz="1500" b="0">
                <a:solidFill>
                  <a:srgbClr val="1F2D5C"/>
                </a:solidFill>
                <a:latin typeface="Calibri"/>
              </a:rPr>
              <a:t> to act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472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Goal  —  Predict depression onset 2 to 4 years ahead from data already in routine collection.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Three questions, locked before any modelling began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solidFill>
            <a:srgbClr val="E5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00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5C"/>
                </a:solidFill>
                <a:latin typeface="Calibri"/>
              </a:rPr>
              <a:t>Can ML predict depression onset 2 to 4 years ahead
from ELSA survey data alone?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63040"/>
            <a:ext cx="3657600" cy="3200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3657600" cy="548640"/>
          </a:xfrm>
          <a:prstGeom prst="rect">
            <a:avLst/>
          </a:prstGeom>
          <a:solidFill>
            <a:srgbClr val="18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5C"/>
                </a:solidFill>
                <a:latin typeface="Calibri"/>
              </a:rPr>
              <a:t>Does combining two waves of data improve
over single-wave models?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657600" cy="3200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657600" cy="548640"/>
          </a:xfrm>
          <a:prstGeom prst="rect">
            <a:avLst/>
          </a:prstGeom>
          <a:solidFill>
            <a:srgbClr val="E0A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200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5C"/>
                </a:solidFill>
                <a:latin typeface="Calibri"/>
              </a:rPr>
              <a:t>Which feature domains carry independent predictive
signal beyond prior depression history?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How we answer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6752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Mapping  —  RQ2 answered by the three prediction arms; RQ3 answered by SHAP and the leakage sensitivity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ELSA: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Representative panel of English adults 50+, biennial since 2002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What's in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Same individuals followed every 2 years (Waves 1 to 11)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Health, cognition, social, economic, lifestyle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8-item CES-D depression scale</a:t>
            </a:r>
            <a:r>
              <a:rPr sz="1400" b="0">
                <a:solidFill>
                  <a:srgbClr val="1F2D5C"/>
                </a:solidFill>
                <a:latin typeface="Calibri"/>
              </a:rPr>
              <a:t> at every wave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UK Data Service deposit 5050 (Stata format)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Why Waves 6, 7, 8?  (Akeeb's audit)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93–97%</a:t>
            </a:r>
            <a:r>
              <a:rPr sz="1400" b="0">
                <a:solidFill>
                  <a:srgbClr val="1F2D5C"/>
                </a:solidFill>
                <a:latin typeface="Calibri"/>
              </a:rPr>
              <a:t> valid CES-D in every wave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&gt;90%</a:t>
            </a:r>
            <a:r>
              <a:rPr sz="1400" b="0">
                <a:solidFill>
                  <a:srgbClr val="1F2D5C"/>
                </a:solidFill>
                <a:latin typeface="Calibri"/>
              </a:rPr>
              <a:t> participant overlap across consecutive waves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13,920 unique variables, but only 2,656 common to all waves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Waves 6–7–8 = strongest consecutive longitudinal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224028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73168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2D5C"/>
                </a:solidFill>
                <a:latin typeface="Calibri"/>
              </a:rPr>
              <a:t>10,601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76672"/>
            <a:ext cx="2240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Wave 6 IFS
respondents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166360"/>
            <a:ext cx="91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4663440"/>
            <a:ext cx="224028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4773168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2D5C"/>
                </a:solidFill>
                <a:latin typeface="Calibri"/>
              </a:rPr>
              <a:t>9,666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376672"/>
            <a:ext cx="2240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Wave 7 IFS
respondents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166360"/>
            <a:ext cx="91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663440"/>
            <a:ext cx="224028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773168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2D5C"/>
                </a:solidFill>
                <a:latin typeface="Calibri"/>
              </a:rPr>
              <a:t>8,445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376672"/>
            <a:ext cx="2240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Wave 8 IFS
respondents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166360"/>
            <a:ext cx="91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4663440"/>
            <a:ext cx="224028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4773168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2D5C"/>
                </a:solidFill>
                <a:latin typeface="Calibri"/>
              </a:rPr>
              <a:t>7,535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5376672"/>
            <a:ext cx="2240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Inner-join
W6∩W7∩W8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5166360"/>
            <a:ext cx="91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663440"/>
            <a:ext cx="224028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4773168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2D5C"/>
                </a:solidFill>
                <a:latin typeface="Calibri"/>
              </a:rPr>
              <a:t>7,211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5376672"/>
            <a:ext cx="2240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After valid
CES-D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The Outcome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Binary depression label — CES-D ≥ 3 at Wave 8</a:t>
            </a:r>
          </a:p>
        </p:txBody>
      </p:sp>
      <p:pic>
        <p:nvPicPr>
          <p:cNvPr id="5" name="Picture 4" descr="out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241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4206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Why CES-D ≥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D5C"/>
                </a:solidFill>
                <a:latin typeface="Calibri"/>
              </a:rPr>
              <a:t>• Validated 8-item depression screen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D5C"/>
                </a:solidFill>
                <a:latin typeface="Calibri"/>
              </a:rPr>
              <a:t>• Steffick (2000) cutoff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~19%</a:t>
            </a:r>
            <a:r>
              <a:rPr sz="1300" b="0">
                <a:solidFill>
                  <a:srgbClr val="1F2D5C"/>
                </a:solidFill>
                <a:latin typeface="Calibri"/>
              </a:rPr>
              <a:t> observed prevalence — matches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46120"/>
            <a:ext cx="4206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The CES-D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5760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D5C"/>
                </a:solidFill>
                <a:latin typeface="Calibri"/>
              </a:rPr>
              <a:t>Earlier bug</a:t>
            </a:r>
            <a:r>
              <a:rPr sz="1200" b="0">
                <a:solidFill>
                  <a:srgbClr val="1F2D5C"/>
                </a:solidFill>
                <a:latin typeface="Calibri"/>
              </a:rPr>
              <a:t>: raw items on a 0-3 scale → prevalence ~74%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D5C"/>
                </a:solidFill>
                <a:latin typeface="Calibri"/>
              </a:rPr>
              <a:t>Fix</a:t>
            </a:r>
            <a:r>
              <a:rPr sz="1200" b="0">
                <a:solidFill>
                  <a:srgbClr val="1F2D5C"/>
                </a:solidFill>
                <a:latin typeface="Calibri"/>
              </a:rPr>
              <a:t>: switched to IFS-validated cesd_sc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D5C"/>
                </a:solidFill>
                <a:latin typeface="Calibri"/>
              </a:rPr>
              <a:t>• Range corrected to 0-8; prevalence drops to 19%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D5C"/>
                </a:solidFill>
                <a:latin typeface="Calibri"/>
              </a:rPr>
              <a:t>• Lesson: always validate against published prevalence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Imbalance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5C66"/>
                </a:solidFill>
                <a:latin typeface="Calibri"/>
              </a:rPr>
              <a:t>Class imbalance handled via class_weight='balanced' (LR, RF) and scale_pos_weight=4 (XGB).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End-to-end reproducible Colab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267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2267" y="1463040"/>
            <a:ext cx="1828800" cy="502920"/>
          </a:xfrm>
          <a:prstGeom prst="rect">
            <a:avLst/>
          </a:prstGeom>
          <a:solidFill>
            <a:srgbClr val="18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267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Load +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IFS / Core / Financial files
Inner join on idauniq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9939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59939" y="1463040"/>
            <a:ext cx="1828800" cy="502920"/>
          </a:xfrm>
          <a:prstGeom prst="rect">
            <a:avLst/>
          </a:prstGeom>
          <a:solidFill>
            <a:srgbClr val="18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9939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7099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Recode -1/-8/-9 → NaN
Drop &gt;40% missing
(train-only)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7611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7611" y="1463040"/>
            <a:ext cx="1828800" cy="502920"/>
          </a:xfrm>
          <a:prstGeom prst="rect">
            <a:avLst/>
          </a:prstGeom>
          <a:solidFill>
            <a:srgbClr val="E5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7611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4771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10 derived features
incl. CES-D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5283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5283" y="1463040"/>
            <a:ext cx="1828800" cy="50292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5283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2443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75/25 stratified test
5-fold stratified 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2955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2955" y="1463040"/>
            <a:ext cx="1828800" cy="502920"/>
          </a:xfrm>
          <a:prstGeom prst="rect">
            <a:avLst/>
          </a:prstGeom>
          <a:solidFill>
            <a:srgbClr val="E0A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2955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Train + 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0115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LR, RF, XGB, LGBM
RandomizedSearchCV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0627" y="1463040"/>
            <a:ext cx="1828800" cy="21945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0627" y="1463040"/>
            <a:ext cx="182880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0627" y="1554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7787" y="2103120"/>
            <a:ext cx="1554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5C"/>
                </a:solidFill>
                <a:latin typeface="Calibri"/>
              </a:rPr>
              <a:t>AUC, F1, recall
Calibration
SHAP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F2D5C"/>
                </a:solidFill>
                <a:latin typeface="Calibri"/>
              </a:rPr>
              <a:t>10 engineered features capture longitudinal dynamics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cesd_change</a:t>
            </a:r>
            <a:r>
              <a:rPr sz="1100" b="0">
                <a:solidFill>
                  <a:srgbClr val="1F2D5C"/>
                </a:solidFill>
                <a:latin typeface="Calibri"/>
              </a:rPr>
              <a:t> (W7-W6)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04872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mobility_count</a:t>
            </a:r>
            <a:r>
              <a:rPr sz="1100" b="0">
                <a:solidFill>
                  <a:srgbClr val="1F2D5C"/>
                </a:solidFill>
                <a:latin typeface="Calibri"/>
              </a:rPr>
              <a:t> W6/W7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52544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adl_count</a:t>
            </a:r>
            <a:r>
              <a:rPr sz="1100" b="0">
                <a:solidFill>
                  <a:srgbClr val="1F2D5C"/>
                </a:solidFill>
                <a:latin typeface="Calibri"/>
              </a:rPr>
              <a:t> W6/W7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iadl_count</a:t>
            </a:r>
            <a:r>
              <a:rPr sz="1100" b="0">
                <a:solidFill>
                  <a:srgbClr val="1F2D5C"/>
                </a:solidFill>
                <a:latin typeface="Calibri"/>
              </a:rPr>
              <a:t> W6/W7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functional_burden</a:t>
            </a:r>
            <a:r>
              <a:rPr sz="1100" b="0">
                <a:solidFill>
                  <a:srgbClr val="1F2D5C"/>
                </a:solidFill>
                <a:latin typeface="Calibri"/>
              </a:rPr>
              <a:t> W6/W7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59" y="4434840"/>
            <a:ext cx="1874519" cy="502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9" y="4553712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2D5C"/>
                </a:solidFill>
                <a:latin typeface="Calibri"/>
              </a:rPr>
              <a:t>mobility_change</a:t>
            </a:r>
            <a:r>
              <a:rPr sz="1100" b="0">
                <a:solidFill>
                  <a:srgbClr val="1F2D5C"/>
                </a:solidFill>
                <a:latin typeface="Calibri"/>
              </a:rPr>
              <a:t> (W7-W6)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11247120" cy="868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Methodology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73328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All preprocessing fit on training data only — zero test-set leakage. Median imputation and scaling inside sklearn Pipelines.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Three prediction arms × five feature configurations × four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2103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502920"/>
          </a:xfrm>
          <a:prstGeom prst="rect">
            <a:avLst/>
          </a:prstGeom>
          <a:solidFill>
            <a:srgbClr val="E5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W6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5C66"/>
                </a:solidFill>
                <a:latin typeface="Calibri"/>
              </a:rPr>
              <a:t>~4-year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5C"/>
                </a:solidFill>
                <a:latin typeface="Calibri"/>
              </a:rPr>
              <a:t>68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657600" cy="2103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solidFill>
            <a:srgbClr val="E0A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W7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5C66"/>
                </a:solidFill>
                <a:latin typeface="Calibri"/>
              </a:rPr>
              <a:t>~2-year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5C"/>
                </a:solidFill>
                <a:latin typeface="Calibri"/>
              </a:rPr>
              <a:t>68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657600" cy="2103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657600" cy="502920"/>
          </a:xfrm>
          <a:prstGeom prst="rect">
            <a:avLst/>
          </a:prstGeom>
          <a:solidFill>
            <a:srgbClr val="18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W6 + W7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5C66"/>
                </a:solidFill>
                <a:latin typeface="Calibri"/>
              </a:rPr>
              <a:t>Combined longitudinal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5C"/>
                </a:solidFill>
                <a:latin typeface="Calibri"/>
              </a:rPr>
              <a:t>138 features
+ change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F2D5C"/>
                </a:solidFill>
                <a:latin typeface="Calibri"/>
              </a:rPr>
              <a:t>Five feature configurations per arm (RQ3 design)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2249424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25112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2D5C"/>
                </a:solidFill>
                <a:latin typeface="Calibri"/>
              </a:rPr>
              <a:t>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206654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All predictors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160520"/>
            <a:ext cx="2249424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325112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2D5C"/>
                </a:solidFill>
                <a:latin typeface="Calibri"/>
              </a:rPr>
              <a:t>no_cesd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709160"/>
            <a:ext cx="206654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Drop prior CES-D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160520"/>
            <a:ext cx="2249424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325112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2D5C"/>
                </a:solidFill>
                <a:latin typeface="Calibri"/>
              </a:rPr>
              <a:t>health_only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709160"/>
            <a:ext cx="206654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SRH + chronic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59" y="4160520"/>
            <a:ext cx="2249424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4325112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2D5C"/>
                </a:solidFill>
                <a:latin typeface="Calibri"/>
              </a:rPr>
              <a:t>function_cog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4709160"/>
            <a:ext cx="206654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Mobility + ADL + cognition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4160520"/>
            <a:ext cx="2249424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325112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2D5C"/>
                </a:solidFill>
                <a:latin typeface="Calibri"/>
              </a:rPr>
              <a:t>socioeconomic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709160"/>
            <a:ext cx="206654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Wealth + employ + social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Total experiments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7044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3 arms × 5 configs × 4 models = 60 baseline experiments. Best config per arm then tuned via RandomizedSearchCV (50 iter, 5-fold).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Headline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Tuned Random Forest combining W6+W7 — AUC 0.85 on held-out test set</a:t>
            </a:r>
          </a:p>
        </p:txBody>
      </p:sp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66604" cy="3383280"/>
          </a:xfrm>
          <a:prstGeom prst="rect">
            <a:avLst/>
          </a:prstGeom>
        </p:spPr>
      </p:pic>
      <p:pic>
        <p:nvPicPr>
          <p:cNvPr id="6" name="Picture 5" descr="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3966604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10912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2D5C"/>
                </a:solidFill>
                <a:latin typeface="Calibri"/>
              </a:rPr>
              <a:t>Best tuned model per arm (test set)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E0A32A"/>
                </a:solidFill>
                <a:latin typeface="Calibri"/>
              </a:rPr>
              <a:t>W6 only (~4 yr)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0A32A"/>
                </a:solidFill>
                <a:latin typeface="Calibri"/>
              </a:rPr>
              <a:t>AUC 0.819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F1 0.532  Recall 0.732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3949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E0A32A"/>
                </a:solidFill>
                <a:latin typeface="Calibri"/>
              </a:rPr>
              <a:t>W7 only (~2 yr)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57150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0A32A"/>
                </a:solidFill>
                <a:latin typeface="Calibri"/>
              </a:rPr>
              <a:t>AUC 0.824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03504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F1 0.545  Recall 0.668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53949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E56B5C"/>
                </a:solidFill>
                <a:latin typeface="Calibri"/>
              </a:rPr>
              <a:t>W6+W7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57150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AUC 0.848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603504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F1 0.582  Recall 0.714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What Drives the Predictions?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SHAP feature importance — Random Forest, W6+W7 full model</a:t>
            </a:r>
          </a:p>
        </p:txBody>
      </p:sp>
      <p:pic>
        <p:nvPicPr>
          <p:cNvPr id="5" name="Picture 4" descr="shap_bar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00380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Top predictors (full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916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Prior CES-D</a:t>
            </a:r>
            <a:r>
              <a:rPr sz="1400" b="0">
                <a:solidFill>
                  <a:srgbClr val="1F2D5C"/>
                </a:solidFill>
                <a:latin typeface="Calibri"/>
              </a:rPr>
              <a:t>  state dependence dominates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Self-rated health</a:t>
            </a:r>
            <a:r>
              <a:rPr sz="1400" b="0">
                <a:solidFill>
                  <a:srgbClr val="1F2D5C"/>
                </a:solidFill>
                <a:latin typeface="Calibri"/>
              </a:rPr>
              <a:t>  subjective vitality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Mobility count</a:t>
            </a:r>
            <a:r>
              <a:rPr sz="1400" b="0">
                <a:solidFill>
                  <a:srgbClr val="1F2D5C"/>
                </a:solidFill>
                <a:latin typeface="Calibri"/>
              </a:rPr>
              <a:t>  physical function decline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CES-D change</a:t>
            </a:r>
            <a:r>
              <a:rPr sz="1400" b="0">
                <a:solidFill>
                  <a:srgbClr val="1F2D5C"/>
                </a:solidFill>
                <a:latin typeface="Calibri"/>
              </a:rPr>
              <a:t>  worsening trajectory matters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Financial difficulty</a:t>
            </a:r>
            <a:r>
              <a:rPr sz="1400" b="0">
                <a:solidFill>
                  <a:srgbClr val="1F2D5C"/>
                </a:solidFill>
                <a:latin typeface="Calibri"/>
              </a:rPr>
              <a:t>  socioeconomic strain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8404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251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D5C"/>
                </a:solidFill>
                <a:latin typeface="Calibri"/>
              </a:rPr>
              <a:t>Late-life depression has a </a:t>
            </a:r>
            <a:r>
              <a:rPr sz="1200" b="1">
                <a:solidFill>
                  <a:srgbClr val="1F2D5C"/>
                </a:solidFill>
                <a:latin typeface="Calibri"/>
              </a:rPr>
              <a:t>biopsychosocial</a:t>
            </a:r>
            <a:r>
              <a:rPr sz="1200" b="0">
                <a:solidFill>
                  <a:srgbClr val="1F2D5C"/>
                </a:solidFill>
                <a:latin typeface="Calibri"/>
              </a:rPr>
              <a:t> signature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D5C"/>
                </a:solidFill>
                <a:latin typeface="Calibri"/>
              </a:rPr>
              <a:t>• Physical, mental, and social signals all visible 2-4 yrs ahead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D5C"/>
                </a:solidFill>
                <a:latin typeface="Calibri"/>
              </a:rPr>
              <a:t>• Aligns with established gerontological depression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Beyond Depression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Even without prior CES-D, the model still predicts well</a:t>
            </a:r>
          </a:p>
        </p:txBody>
      </p:sp>
      <p:pic>
        <p:nvPicPr>
          <p:cNvPr id="5" name="Picture 4" descr="leakag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9179859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The leakage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916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Strip every CES-D-related feature; refit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Tests: is the model just "depressed people stay depressed"?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1089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204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AUC 0.848 → 0.773</a:t>
            </a:r>
            <a:r>
              <a:rPr sz="1300" b="0">
                <a:solidFill>
                  <a:srgbClr val="1F2D5C"/>
                </a:solidFill>
                <a:latin typeface="Calibri"/>
              </a:rPr>
              <a:t> (drop of 0.075)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D5C"/>
                </a:solidFill>
                <a:latin typeface="Calibri"/>
              </a:rPr>
              <a:t>• Drop is real — prior depression matters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D5C"/>
                </a:solidFill>
                <a:latin typeface="Calibri"/>
              </a:rPr>
              <a:t>• But 0.77 is still a clinically usable screening signal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D5C"/>
                </a:solidFill>
                <a:latin typeface="Calibri"/>
              </a:rPr>
              <a:t>Achieved with </a:t>
            </a:r>
            <a:r>
              <a:rPr sz="1300" b="1">
                <a:solidFill>
                  <a:srgbClr val="1F2D5C"/>
                </a:solidFill>
                <a:latin typeface="Calibri"/>
              </a:rPr>
              <a:t>no mental health features at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E56B5C"/>
                </a:solidFill>
                <a:latin typeface="Calibri"/>
              </a:rPr>
              <a:t>Headline scientific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Depression risk leaves a measurable footprint in physical, functional, and economic data 2–4 years before symptoms emerge.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Where the model can and cannot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Methodological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Screening, not diagnosis</a:t>
            </a:r>
            <a:r>
              <a:rPr sz="1400" b="0">
                <a:solidFill>
                  <a:srgbClr val="1F2D5C"/>
                </a:solidFill>
                <a:latin typeface="Calibri"/>
              </a:rPr>
              <a:t>  CES-D ≥ 3 flags symptoms, not MDD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Observational</a:t>
            </a:r>
            <a:r>
              <a:rPr sz="1400" b="0">
                <a:solidFill>
                  <a:srgbClr val="1F2D5C"/>
                </a:solidFill>
                <a:latin typeface="Calibri"/>
              </a:rPr>
              <a:t>  associations, not causal claims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Attrition bias</a:t>
            </a:r>
            <a:r>
              <a:rPr sz="1400" b="0">
                <a:solidFill>
                  <a:srgbClr val="1F2D5C"/>
                </a:solidFill>
                <a:latin typeface="Calibri"/>
              </a:rPr>
              <a:t>  ~30% of W6 sample dropped (likely sicker)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State dependence</a:t>
            </a:r>
            <a:r>
              <a:rPr sz="1400" b="0">
                <a:solidFill>
                  <a:srgbClr val="1F2D5C"/>
                </a:solidFill>
                <a:latin typeface="Calibri"/>
              </a:rPr>
              <a:t>  prior CES-D dominates the full model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Imbalance</a:t>
            </a:r>
            <a:r>
              <a:rPr sz="1400" b="0">
                <a:solidFill>
                  <a:srgbClr val="1F2D5C"/>
                </a:solidFill>
                <a:latin typeface="Calibri"/>
              </a:rPr>
              <a:t>  precision ≈ 49%; ~half of flagged are false +ve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0A32A"/>
                </a:solidFill>
                <a:latin typeface="Calibri"/>
              </a:rPr>
              <a:t>Generalisability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5C"/>
                </a:solidFill>
                <a:latin typeface="Calibri"/>
              </a:rPr>
              <a:t>Validated only on </a:t>
            </a:r>
            <a:r>
              <a:rPr sz="1400" b="1">
                <a:solidFill>
                  <a:srgbClr val="1F2D5C"/>
                </a:solidFill>
                <a:latin typeface="Calibri"/>
              </a:rPr>
              <a:t>English population aged 50+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Excludes institutionalised and care-home residents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ELSA cohort effects (e.g. 1950s-born ≠ today's 50-year-olds)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5C"/>
                </a:solidFill>
                <a:latin typeface="Calibri"/>
              </a:rPr>
              <a:t>Fairness not yet evaluated</a:t>
            </a:r>
            <a:r>
              <a:rPr sz="1400" b="0">
                <a:solidFill>
                  <a:srgbClr val="1F2D5C"/>
                </a:solidFill>
                <a:latin typeface="Calibri"/>
              </a:rPr>
              <a:t> across sex, ethnicity, SES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D5C"/>
                </a:solidFill>
                <a:latin typeface="Calibri"/>
              </a:rPr>
              <a:t>• Threshold of 0.5 is naive — deployment must tune to 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5C"/>
                </a:solidFill>
                <a:latin typeface="Calibri"/>
              </a:rPr>
              <a:t>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16168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These limitations were noted explicitly in the GitHub PR review process and accepted as documented constraints, not silent gaps.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1F2D5C"/>
                </a:solidFill>
                <a:latin typeface="Calibri"/>
              </a:rPr>
              <a:t>Future Directions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55C66"/>
                </a:solidFill>
                <a:latin typeface="Calibri"/>
              </a:rPr>
              <a:t>From a coursework prototype to a clinical 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86F82"/>
                </a:solidFill>
                <a:latin typeface="Calibri"/>
              </a:rP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Incident-only model</a:t>
            </a:r>
            <a:r>
              <a:rPr sz="1300" b="0">
                <a:solidFill>
                  <a:srgbClr val="1F2D5C"/>
                </a:solidFill>
                <a:latin typeface="Calibri"/>
              </a:rPr>
              <a:t>  exclude already-depressed at baseline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External validation</a:t>
            </a:r>
            <a:r>
              <a:rPr sz="1300" b="0">
                <a:solidFill>
                  <a:srgbClr val="1F2D5C"/>
                </a:solidFill>
                <a:latin typeface="Calibri"/>
              </a:rPr>
              <a:t>  HRS (US), SHARE (EU), TILDA (Ireland)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Biomarkers</a:t>
            </a:r>
            <a:r>
              <a:rPr sz="1300" b="0">
                <a:solidFill>
                  <a:srgbClr val="1F2D5C"/>
                </a:solidFill>
                <a:latin typeface="Calibri"/>
              </a:rPr>
              <a:t>  add ELSA nurse-visit blood data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Trajectory models</a:t>
            </a:r>
            <a:r>
              <a:rPr sz="1300" b="0">
                <a:solidFill>
                  <a:srgbClr val="1F2D5C"/>
                </a:solidFill>
                <a:latin typeface="Calibri"/>
              </a:rPr>
              <a:t>  RNNs across many waves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Fairness audit</a:t>
            </a:r>
            <a:r>
              <a:rPr sz="1300" b="0">
                <a:solidFill>
                  <a:srgbClr val="1F2D5C"/>
                </a:solidFill>
                <a:latin typeface="Calibri"/>
              </a:rPr>
              <a:t>  calibration across subgroups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Cost-effectiveness</a:t>
            </a:r>
            <a:r>
              <a:rPr sz="1300" b="0">
                <a:solidFill>
                  <a:srgbClr val="1F2D5C"/>
                </a:solidFill>
                <a:latin typeface="Calibri"/>
              </a:rPr>
              <a:t>  QALY analysis with intervention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6B5C"/>
                </a:solidFill>
                <a:latin typeface="Calibri"/>
              </a:rPr>
              <a:t>Take-home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RQ1</a:t>
            </a:r>
            <a:r>
              <a:rPr sz="1300" b="0">
                <a:solidFill>
                  <a:srgbClr val="1F2D5C"/>
                </a:solidFill>
                <a:latin typeface="Calibri"/>
              </a:rPr>
              <a:t>  AUC 0.85 = clinically useful early prediction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RQ2</a:t>
            </a:r>
            <a:r>
              <a:rPr sz="1300" b="0">
                <a:solidFill>
                  <a:srgbClr val="1F2D5C"/>
                </a:solidFill>
                <a:latin typeface="Calibri"/>
              </a:rPr>
              <a:t>  Two waves &gt; one, but recent snapshot ≈ combined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D5C"/>
                </a:solidFill>
                <a:latin typeface="Calibri"/>
              </a:rPr>
              <a:t>RQ3</a:t>
            </a:r>
            <a:r>
              <a:rPr sz="1300" b="0">
                <a:solidFill>
                  <a:srgbClr val="1F2D5C"/>
                </a:solidFill>
                <a:latin typeface="Calibri"/>
              </a:rPr>
              <a:t>  Non-mental-health features carry independent signal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D5C"/>
                </a:solidFill>
                <a:latin typeface="Calibri"/>
              </a:rPr>
              <a:t>• Routine over-50 health-check data could feed this model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E56B5C"/>
                </a:solidFill>
                <a:latin typeface="Calibri"/>
              </a:rPr>
              <a:t>In one sentence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Routine survey data can flag future depression with clinically useful accuracy 2–4 years in advance — even without using depression history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ELSA Depression Prediction  |  AI &amp; Healthcare  |  University of Surrey  2025/26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