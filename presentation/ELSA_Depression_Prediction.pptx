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0584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Predicting Depression in Older Adults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Early prediction from 4 years out using ELSA longitudinal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Akeeb Lawel  •  Fiyin Akano  •  Zannat Chowdhury Sagar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Giridhar Nampally  •  Pushkar Jadav  •  Poorna Golla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4F5F7"/>
                </a:solidFill>
                <a:latin typeface="Calibri"/>
              </a:rPr>
              <a:t>MSc Artificial Intelligence  •  AI and Healthcare  •  2025/26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Late-life depression: prevalent, disabling, and largely invisible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The clinical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2D5C"/>
                </a:solidFill>
                <a:latin typeface="Calibri"/>
              </a:rPr>
              <a:t>WHO</a:t>
            </a:r>
            <a:r>
              <a:rPr sz="1500" b="0">
                <a:solidFill>
                  <a:srgbClr val="1F2D5C"/>
                </a:solidFill>
                <a:latin typeface="Calibri"/>
              </a:rPr>
              <a:t>  ~7% of adults 60+ globally have depression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Most never receive a diagnosis or treatment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Drivers: stigma, somatic presentation, comorbidity, time-poor primary care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Linked to worse outcomes in CVD, dementia, all-cause mortality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Universal screening is impractical at population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The ML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Routine survey or health-record data is already collected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ML can flag the highest-risk for clinician follow-up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1F2D5C"/>
                </a:solidFill>
                <a:latin typeface="Calibri"/>
              </a:rPr>
              <a:t>• Saves clinician time — better than untargeted screening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2D5C"/>
                </a:solidFill>
                <a:latin typeface="Calibri"/>
              </a:rPr>
              <a:t>Most beneficial when prediction is </a:t>
            </a:r>
            <a:r>
              <a:rPr sz="1500" b="1">
                <a:solidFill>
                  <a:srgbClr val="1F2D5C"/>
                </a:solidFill>
                <a:latin typeface="Calibri"/>
              </a:rPr>
              <a:t>early enough</a:t>
            </a:r>
            <a:r>
              <a:rPr sz="1500" b="0">
                <a:solidFill>
                  <a:srgbClr val="1F2D5C"/>
                </a:solidFill>
                <a:latin typeface="Calibri"/>
              </a:rPr>
              <a:t> to act 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Project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247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Goal  —  Predict depression onset 2 to 4 years ahead from data already in routine collection.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Three questions, locked before any modelling began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54864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Can ML predict depression onset 2 to 4 years ahead
from ELSA survey data alone?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463040"/>
            <a:ext cx="3657600" cy="54864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Does combining two waves of data improve
over single-wave models?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32004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657600" cy="54864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5544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RQ3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240280"/>
            <a:ext cx="32004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1F2D5C"/>
                </a:solidFill>
                <a:latin typeface="Calibri"/>
              </a:rPr>
              <a:t>Which feature domains carry independent predictive
signal beyond prior depression history?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83480"/>
            <a:ext cx="11247120" cy="13716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How we answer them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675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Mapping  —  RQ2 answered by the three prediction arms; RQ3 answered by SHAP and the leakage sensitivity analysis.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ELSA: 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Representative panel of English adults 50+, biennial since 2002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What's in 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Same individuals followed every 2 years (Waves 1 to 11)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Health, cognition, social, economic, lifestyle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8-item CES-D depression scale</a:t>
            </a:r>
            <a:r>
              <a:rPr sz="1400" b="0">
                <a:solidFill>
                  <a:srgbClr val="1F2D5C"/>
                </a:solidFill>
                <a:latin typeface="Calibri"/>
              </a:rPr>
              <a:t> at every wave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UK Data Service deposit 5050 (Stata format)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Why Waves 6, 7, 8?  (Akeeb's audit)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93–97%</a:t>
            </a:r>
            <a:r>
              <a:rPr sz="1400" b="0">
                <a:solidFill>
                  <a:srgbClr val="1F2D5C"/>
                </a:solidFill>
                <a:latin typeface="Calibri"/>
              </a:rPr>
              <a:t> valid CES-D in every wave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&gt;90%</a:t>
            </a:r>
            <a:r>
              <a:rPr sz="1400" b="0">
                <a:solidFill>
                  <a:srgbClr val="1F2D5C"/>
                </a:solidFill>
                <a:latin typeface="Calibri"/>
              </a:rPr>
              <a:t> participant overlap across consecutive waves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13,920 unique variables, but only 2,656 common to all waves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Waves 6–7–8 = strongest consecutive longitudinal block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10,601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6 IFS
respondents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9,666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7 IFS
respondents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8,445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Wave 8 IFS
respondents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59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59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7,535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Inner-join
W6∩W7∩W8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39" y="5166360"/>
            <a:ext cx="914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4663440"/>
            <a:ext cx="2240280" cy="14173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4773168"/>
            <a:ext cx="224028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1F2D5C"/>
                </a:solidFill>
                <a:latin typeface="Calibri"/>
              </a:rPr>
              <a:t>7,211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5376672"/>
            <a:ext cx="22402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After valid
CES-D filter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Binary depression label — CES-D ≥ 3 at Wave 8</a:t>
            </a:r>
          </a:p>
        </p:txBody>
      </p:sp>
      <p:pic>
        <p:nvPicPr>
          <p:cNvPr id="5" name="Picture 4" descr="outcom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241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280160"/>
            <a:ext cx="4206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Why CES-D ≥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9164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Validated 8-item depression screen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Steffick (2000) cutoff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~19%</a:t>
            </a:r>
            <a:r>
              <a:rPr sz="1300" b="0">
                <a:solidFill>
                  <a:srgbClr val="1F2D5C"/>
                </a:solidFill>
                <a:latin typeface="Calibri"/>
              </a:rPr>
              <a:t> observed prevalence — matches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4206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The CES-D 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65760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Earlier bug</a:t>
            </a:r>
            <a:r>
              <a:rPr sz="1200" b="0">
                <a:solidFill>
                  <a:srgbClr val="1F2D5C"/>
                </a:solidFill>
                <a:latin typeface="Calibri"/>
              </a:rPr>
              <a:t>: raw items on a 0-3 scale → prevalence ~74%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Fix</a:t>
            </a:r>
            <a:r>
              <a:rPr sz="1200" b="0">
                <a:solidFill>
                  <a:srgbClr val="1F2D5C"/>
                </a:solidFill>
                <a:latin typeface="Calibri"/>
              </a:rPr>
              <a:t>: switched to IFS-validated cesd_sc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Range corrected to 0-8; prevalence drops to 19%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Lesson: always validate against published prevalence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Imbalance handling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Class imbalance handled via class_weight='balanced' (LR, RF) and scale_pos_weight=4 (XGB).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The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End-to-end reproducible Colab notebook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267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2267" y="1463040"/>
            <a:ext cx="18288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2267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1. Load + merge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27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IFS / Core / Financial files
Inner join on idauniq</a:t>
            </a:r>
          </a:p>
        </p:txBody>
      </p:sp>
      <p:sp>
        <p:nvSpPr>
          <p:cNvPr id="9" name="Rectangle 8"/>
          <p:cNvSpPr/>
          <p:nvPr/>
        </p:nvSpPr>
        <p:spPr>
          <a:xfrm>
            <a:off x="2259939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59939" y="1463040"/>
            <a:ext cx="18288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9939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2. Preprocess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7099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Recode -1/-8/-9 → NaN
Drop &gt;40% missing
(train-only)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7611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7611" y="1463040"/>
            <a:ext cx="18288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7611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3. 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4771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10 derived features
incl. CES-D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5283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5283" y="1463040"/>
            <a:ext cx="1828800" cy="50292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5283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4. Split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2443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75/25 stratified test
5-fold stratified 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2955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2955" y="1463040"/>
            <a:ext cx="18288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02955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5. Train + tune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0115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LR, RF, XGB, LGBM
RandomizedSearchCV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0627" y="1463040"/>
            <a:ext cx="1828800" cy="21945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0627" y="1463040"/>
            <a:ext cx="1828800" cy="5029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0627" y="1554480"/>
            <a:ext cx="1828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6. Evaluate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87787" y="2103120"/>
            <a:ext cx="15544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AUC, F1, recall
Calibration
SHAP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1F2D5C"/>
                </a:solidFill>
                <a:latin typeface="Calibri"/>
              </a:rPr>
              <a:t>10 engineered features capture longitudinal dynamics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cesd_change</a:t>
            </a:r>
            <a:r>
              <a:rPr sz="1100" b="0">
                <a:solidFill>
                  <a:srgbClr val="1F2D5C"/>
                </a:solidFill>
                <a:latin typeface="Calibri"/>
              </a:rPr>
              <a:t> (W7-W6)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04872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0592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mobility_count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4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98264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adl_count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0216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45936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iadl_count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47888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93608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functional_burden</a:t>
            </a:r>
            <a:r>
              <a:rPr sz="1100" b="0">
                <a:solidFill>
                  <a:srgbClr val="1F2D5C"/>
                </a:solidFill>
                <a:latin typeface="Calibri"/>
              </a:rPr>
              <a:t> W6/W7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95559" y="4434840"/>
            <a:ext cx="1874519" cy="5029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9" y="4553712"/>
            <a:ext cx="1783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2D5C"/>
                </a:solidFill>
                <a:latin typeface="Calibri"/>
              </a:rPr>
              <a:t>mobility_change</a:t>
            </a:r>
            <a:r>
              <a:rPr sz="1100" b="0">
                <a:solidFill>
                  <a:srgbClr val="1F2D5C"/>
                </a:solidFill>
                <a:latin typeface="Calibri"/>
              </a:rPr>
              <a:t> (W7-W6)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34924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Methodology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73328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All preprocessing fit on training data only — zero test-set leakage. Median imputation and scaling inside sklearn Pipelines.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Experimental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Three prediction arms × five feature configurations × four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36576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W6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~4-year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68 features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417320"/>
            <a:ext cx="36576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W7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~2-year horizon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68 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3657600" cy="210312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6576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50876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W6 + W7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057400"/>
            <a:ext cx="3200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55C66"/>
                </a:solidFill>
                <a:latin typeface="Calibri"/>
              </a:rPr>
              <a:t>Combined longitudinal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468880"/>
            <a:ext cx="32004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1F2D5C"/>
                </a:solidFill>
                <a:latin typeface="Calibri"/>
              </a:rPr>
              <a:t>138 features
+ change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1F2D5C"/>
                </a:solidFill>
                <a:latin typeface="Calibri"/>
              </a:rPr>
              <a:t>Five feature configurations per arm (RQ3 design)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All predictors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no_cesd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Drop prior CES-D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health_only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SRH + chronic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59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59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function_cog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799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Mobility + ADL + cognition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84080" y="4160520"/>
            <a:ext cx="2249424" cy="10972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0" y="4325112"/>
            <a:ext cx="2249424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F2D5C"/>
                </a:solidFill>
                <a:latin typeface="Calibri"/>
              </a:rPr>
              <a:t>socioeconomic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4709160"/>
            <a:ext cx="2066544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555C66"/>
                </a:solidFill>
                <a:latin typeface="Calibri"/>
              </a:rPr>
              <a:t>Wealth + employ + social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5778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Total experiments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87044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3 arms × 5 configs × 4 models = 60 baseline experiments. Best config per arm then tuned via RandomizedSearchCV (30 iter, 5-fold).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Headline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Tuned Random Forest combining W6+W7 — AUC 0.85 on held-out test set</a:t>
            </a:r>
          </a:p>
        </p:txBody>
      </p:sp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644988" cy="3108960"/>
          </a:xfrm>
          <a:prstGeom prst="rect">
            <a:avLst/>
          </a:prstGeom>
        </p:spPr>
      </p:pic>
      <p:pic>
        <p:nvPicPr>
          <p:cNvPr id="6" name="Picture 5" descr="p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3644988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526280"/>
            <a:ext cx="11247120" cy="13258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99432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F2D5C"/>
                </a:solidFill>
                <a:latin typeface="Calibri"/>
              </a:rPr>
              <a:t>Best tuned model per arm (test set)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10328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0A32A"/>
                </a:solidFill>
                <a:latin typeface="Calibri"/>
              </a:rPr>
              <a:t>W6 only (~4 yr)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E0A32A"/>
                </a:solidFill>
                <a:latin typeface="Calibri"/>
              </a:rPr>
              <a:t>AUC 0.819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0.532  Recall 0.732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910328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0A32A"/>
                </a:solidFill>
                <a:latin typeface="Calibri"/>
              </a:rPr>
              <a:t>W7 only (~2 yr)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2120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E0A32A"/>
                </a:solidFill>
                <a:latin typeface="Calibri"/>
              </a:rPr>
              <a:t>AUC 0.824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553212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0.545  Recall 0.668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910328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E56B5C"/>
                </a:solidFill>
                <a:latin typeface="Calibri"/>
              </a:rPr>
              <a:t>W6+W7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21208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E56B5C"/>
                </a:solidFill>
                <a:latin typeface="Calibri"/>
              </a:rPr>
              <a:t>AUC 0.848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5532120"/>
            <a:ext cx="3657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55C66"/>
                </a:solidFill>
                <a:latin typeface="Calibri"/>
              </a:rPr>
              <a:t>F1 0.582  Recall 0.714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Stacking ensemble  —  RF + LGBM + LR meta  —  AUC 0.841,  Recall 0.773 (highest of any model)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Clinical Deployment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Threshold tuning, calibrated probabilities, and stacking for screening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657600" cy="42062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657600" cy="502920"/>
          </a:xfrm>
          <a:prstGeom prst="rect">
            <a:avLst/>
          </a:prstGeom>
          <a:solidFill>
            <a:srgbClr val="186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Threshold optimisation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004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Default t = 0.50  →  F1 0.580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Optimal t ≈ 0.58  →  F1 0.611</a:t>
            </a:r>
            <a:r>
              <a:rPr sz="1200" b="0">
                <a:solidFill>
                  <a:srgbClr val="1F2D5C"/>
                </a:solidFill>
                <a:latin typeface="Calibri"/>
              </a:rPr>
              <a:t> (+5%)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Lower t  →  more recall, more false +ve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Tune t to clinic capacity</a:t>
            </a:r>
            <a:r>
              <a:rPr sz="1200" b="0">
                <a:solidFill>
                  <a:srgbClr val="1F2D5C"/>
                </a:solidFill>
                <a:latin typeface="Calibri"/>
              </a:rPr>
              <a:t>, not 0.5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371600"/>
            <a:ext cx="3657600" cy="42062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371600"/>
            <a:ext cx="3657600" cy="502920"/>
          </a:xfrm>
          <a:prstGeom prst="rect">
            <a:avLst/>
          </a:prstGeom>
          <a:solidFill>
            <a:srgbClr val="E56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630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Calibration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057400"/>
            <a:ext cx="32004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Tree models under-confident at low p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Isotonic regression on RF</a:t>
            </a:r>
            <a:r>
              <a:rPr sz="1200" b="0">
                <a:solidFill>
                  <a:srgbClr val="1F2D5C"/>
                </a:solidFill>
                <a:latin typeface="Calibri"/>
              </a:rPr>
              <a:t> preserves AUC 0.848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Probabilities now reliable in p∈[0.2, 0.6]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LR is naturally well-calibrated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371600"/>
            <a:ext cx="3657600" cy="42062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371600"/>
            <a:ext cx="3657600" cy="502920"/>
          </a:xfrm>
          <a:prstGeom prst="rect">
            <a:avLst/>
          </a:prstGeom>
          <a:solidFill>
            <a:srgbClr val="E0A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4630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Stacking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2004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RF + LGBM base, LR meta-learner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F2D5C"/>
                </a:solidFill>
                <a:latin typeface="Calibri"/>
              </a:rPr>
              <a:t>AUC 0.841,  </a:t>
            </a:r>
            <a:r>
              <a:rPr sz="1200" b="1">
                <a:solidFill>
                  <a:srgbClr val="1F2D5C"/>
                </a:solidFill>
                <a:latin typeface="Calibri"/>
              </a:rPr>
              <a:t>Recall 0.773 (highest)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Soft-vote: correlated errors  →  no AUC gain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F2D5C"/>
                </a:solidFill>
                <a:latin typeface="Calibri"/>
              </a:rPr>
              <a:t>For maximum case detection: stacking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669280"/>
            <a:ext cx="11247120" cy="7772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Choosing the right model for the right use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Three deployment options match three clinical needs: best discrimination → RF tuned;  reliable probability → calibrated RF;  maximum recall → stacking ensemble.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What Drives the Predictions?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SHAP feature importance — Random Forest, W6+W7 full model</a:t>
            </a:r>
          </a:p>
        </p:txBody>
      </p:sp>
      <p:pic>
        <p:nvPicPr>
          <p:cNvPr id="5" name="Picture 4" descr="shap_bar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003801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Top predictors (full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Prior CES-D</a:t>
            </a:r>
            <a:r>
              <a:rPr sz="1400" b="0">
                <a:solidFill>
                  <a:srgbClr val="1F2D5C"/>
                </a:solidFill>
                <a:latin typeface="Calibri"/>
              </a:rPr>
              <a:t>  state dependence dominates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Self-rated health</a:t>
            </a:r>
            <a:r>
              <a:rPr sz="1400" b="0">
                <a:solidFill>
                  <a:srgbClr val="1F2D5C"/>
                </a:solidFill>
                <a:latin typeface="Calibri"/>
              </a:rPr>
              <a:t>  subjective vitality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Mobility count</a:t>
            </a:r>
            <a:r>
              <a:rPr sz="1400" b="0">
                <a:solidFill>
                  <a:srgbClr val="1F2D5C"/>
                </a:solidFill>
                <a:latin typeface="Calibri"/>
              </a:rPr>
              <a:t>  physical function decline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CES-D change</a:t>
            </a:r>
            <a:r>
              <a:rPr sz="1400" b="0">
                <a:solidFill>
                  <a:srgbClr val="1F2D5C"/>
                </a:solidFill>
                <a:latin typeface="Calibri"/>
              </a:rPr>
              <a:t>  worsening trajectory matters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Financial difficulty</a:t>
            </a:r>
            <a:r>
              <a:rPr sz="1400" b="0">
                <a:solidFill>
                  <a:srgbClr val="1F2D5C"/>
                </a:solidFill>
                <a:latin typeface="Calibri"/>
              </a:rPr>
              <a:t>  socioeconomic strain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84048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What this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2519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2D5C"/>
                </a:solidFill>
                <a:latin typeface="Calibri"/>
              </a:rPr>
              <a:t>Late-life depression has a </a:t>
            </a:r>
            <a:r>
              <a:rPr sz="1200" b="1">
                <a:solidFill>
                  <a:srgbClr val="1F2D5C"/>
                </a:solidFill>
                <a:latin typeface="Calibri"/>
              </a:rPr>
              <a:t>biopsychosocial</a:t>
            </a:r>
            <a:r>
              <a:rPr sz="1200" b="0">
                <a:solidFill>
                  <a:srgbClr val="1F2D5C"/>
                </a:solidFill>
                <a:latin typeface="Calibri"/>
              </a:rPr>
              <a:t> signature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Physical, mental, and social signals all visible 2-4 yrs ahead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F2D5C"/>
                </a:solidFill>
                <a:latin typeface="Calibri"/>
              </a:rPr>
              <a:t>• Aligns with established gerontological depression 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Robustness: Three Methods 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SHAP, LR coefficients, and LGBM gain converge on the same predictors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86F82"/>
                </a:solidFill>
                <a:latin typeface="Calibri"/>
              </a:rPr>
              <a:t>Convergent feature ranking (W6+W7)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669280" cy="41148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64792"/>
            <a:ext cx="21945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764792"/>
            <a:ext cx="96012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SHAP rank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764792"/>
            <a:ext cx="10972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LR coeff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764792"/>
            <a:ext cx="128016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LGBM gain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03120"/>
            <a:ext cx="5669280" cy="3657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76272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cesd_sc W7/W6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176272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#1, 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176272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+0.89 / +0.70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176272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Dominant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87168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60320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Self-rated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560320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#3 – #5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560320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+ve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560320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Top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71215"/>
            <a:ext cx="5669280" cy="3657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944367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Mobility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944367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#4 – #6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2944367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−ve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944367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Top 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55263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328415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Financial diff.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328415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#6 – #8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3328415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+0.32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328415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Mid-tier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639311"/>
            <a:ext cx="5669280" cy="3657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712463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Wealth (totwq5)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712463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3712463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−0.34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0640" y="3712463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Mid-tier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23360"/>
            <a:ext cx="56692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096512"/>
            <a:ext cx="21945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Sex (female)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096512"/>
            <a:ext cx="96012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#9 – #10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4096512"/>
            <a:ext cx="10972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+0.27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4096512"/>
            <a:ext cx="1280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5C"/>
                </a:solidFill>
                <a:latin typeface="Calibri"/>
              </a:rPr>
              <a:t>Mid-tier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61772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Three independent methods. Same ranking.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E0A32A"/>
                </a:solidFill>
                <a:latin typeface="Calibri"/>
              </a:rPr>
              <a:t>Leave-one-domain-out AUC drop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691640"/>
            <a:ext cx="5486400" cy="32004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1737360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Prior depression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1737360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1">
                <a:solidFill>
                  <a:srgbClr val="E56B5C"/>
                </a:solidFill>
                <a:latin typeface="Calibri"/>
              </a:rPr>
              <a:t>−0.077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2066544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Self-rated health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20" y="2066544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−0.005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2395728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Chronic conditions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2395728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2724912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Mobility / function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2720" y="2724912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3054096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Cognition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3054096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3383279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Socioeconomic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0" y="3383279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3712464"/>
            <a:ext cx="38404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Lifestyle / digital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2720" y="3712464"/>
            <a:ext cx="146304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0">
                <a:solidFill>
                  <a:srgbClr val="555C66"/>
                </a:solidFill>
                <a:latin typeface="Calibri"/>
              </a:rPr>
              <a:t>≈0.000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Why near-zero for everything else?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44348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D5C"/>
                </a:solidFill>
                <a:latin typeface="Calibri"/>
              </a:rPr>
              <a:t>Health, mobility, finance share </a:t>
            </a:r>
            <a:r>
              <a:rPr sz="1100" b="1">
                <a:solidFill>
                  <a:srgbClr val="1F2D5C"/>
                </a:solidFill>
                <a:latin typeface="Calibri"/>
              </a:rPr>
              <a:t>|r| ≈ 0.4–0.5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5C"/>
                </a:solidFill>
                <a:latin typeface="Calibri"/>
              </a:rPr>
              <a:t>• Remove one domain  →  model reconstructs from neighbours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F2D5C"/>
                </a:solidFill>
                <a:latin typeface="Calibri"/>
              </a:rPr>
              <a:t>Signal is </a:t>
            </a:r>
            <a:r>
              <a:rPr sz="1100" b="1">
                <a:solidFill>
                  <a:srgbClr val="1F2D5C"/>
                </a:solidFill>
                <a:latin typeface="Calibri"/>
              </a:rPr>
              <a:t>robust, not redundant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59893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RQ3 holds: the same biopsychosocial predictors emerge under SHAP, LR coefficients, LGBM gain, and ablation — the finding is not a SHAP artefact.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Beyond Depression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Even without prior CES-D, the model still predicts well</a:t>
            </a:r>
          </a:p>
        </p:txBody>
      </p:sp>
      <p:pic>
        <p:nvPicPr>
          <p:cNvPr id="5" name="Picture 4" descr="leakag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9179859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The leakage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Strip every CES-D-related feature; refit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Tests: is the model just "depressed people stay depressed"?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108960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52044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AUC 0.848 → 0.773</a:t>
            </a:r>
            <a:r>
              <a:rPr sz="1300" b="0">
                <a:solidFill>
                  <a:srgbClr val="1F2D5C"/>
                </a:solidFill>
                <a:latin typeface="Calibri"/>
              </a:rPr>
              <a:t> (drop of 0.075)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Drop is real — prior depression matters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But 0.77 is still a clinically usable screening signal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F2D5C"/>
                </a:solidFill>
                <a:latin typeface="Calibri"/>
              </a:rPr>
              <a:t>Achieved with </a:t>
            </a:r>
            <a:r>
              <a:rPr sz="1300" b="1">
                <a:solidFill>
                  <a:srgbClr val="1F2D5C"/>
                </a:solidFill>
                <a:latin typeface="Calibri"/>
              </a:rPr>
              <a:t>no mental health features at 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Headline scientific finding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Depression risk leaves a measurable footprint in physical, functional, and economic data 2–4 years before symptoms emerge.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Where the model can and cannot be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Methodological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Screening, not diagnosis</a:t>
            </a:r>
            <a:r>
              <a:rPr sz="1400" b="0">
                <a:solidFill>
                  <a:srgbClr val="1F2D5C"/>
                </a:solidFill>
                <a:latin typeface="Calibri"/>
              </a:rPr>
              <a:t>  CES-D ≥ 3 flags symptoms, not MDD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Observational</a:t>
            </a:r>
            <a:r>
              <a:rPr sz="1400" b="0">
                <a:solidFill>
                  <a:srgbClr val="1F2D5C"/>
                </a:solidFill>
                <a:latin typeface="Calibri"/>
              </a:rPr>
              <a:t>  associations, not causal claims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Attrition bias</a:t>
            </a:r>
            <a:r>
              <a:rPr sz="1400" b="0">
                <a:solidFill>
                  <a:srgbClr val="1F2D5C"/>
                </a:solidFill>
                <a:latin typeface="Calibri"/>
              </a:rPr>
              <a:t>  ~30% of W6 sample dropped (likely sicker)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State dependence</a:t>
            </a:r>
            <a:r>
              <a:rPr sz="1400" b="0">
                <a:solidFill>
                  <a:srgbClr val="1F2D5C"/>
                </a:solidFill>
                <a:latin typeface="Calibri"/>
              </a:rPr>
              <a:t>  prior CES-D dominates the full model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Imbalance</a:t>
            </a:r>
            <a:r>
              <a:rPr sz="1400" b="0">
                <a:solidFill>
                  <a:srgbClr val="1F2D5C"/>
                </a:solidFill>
                <a:latin typeface="Calibri"/>
              </a:rPr>
              <a:t>  precision ≈ 49%; ~half of flagged are false +ve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0A32A"/>
                </a:solidFill>
                <a:latin typeface="Calibri"/>
              </a:rPr>
              <a:t>Generalisability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D5C"/>
                </a:solidFill>
                <a:latin typeface="Calibri"/>
              </a:rPr>
              <a:t>Validated only on </a:t>
            </a:r>
            <a:r>
              <a:rPr sz="1400" b="1">
                <a:solidFill>
                  <a:srgbClr val="1F2D5C"/>
                </a:solidFill>
                <a:latin typeface="Calibri"/>
              </a:rPr>
              <a:t>English population aged 50+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Excludes institutionalised and care-home residents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ELSA cohort effects (e.g. 1950s-born ≠ today's 50-year-olds)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D5C"/>
                </a:solidFill>
                <a:latin typeface="Calibri"/>
              </a:rPr>
              <a:t>Fairness not yet evaluated</a:t>
            </a:r>
            <a:r>
              <a:rPr sz="1400" b="0">
                <a:solidFill>
                  <a:srgbClr val="1F2D5C"/>
                </a:solidFill>
                <a:latin typeface="Calibri"/>
              </a:rPr>
              <a:t> across sex, ethnicity, SES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F2D5C"/>
                </a:solidFill>
                <a:latin typeface="Calibri"/>
              </a:rPr>
              <a:t>• Threshold of 0.5 is naive — deployment must tune to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F2D5C"/>
                </a:solidFill>
                <a:latin typeface="Calibri"/>
              </a:rPr>
              <a:t>Transparency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16168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555C66"/>
                </a:solidFill>
                <a:latin typeface="Calibri"/>
              </a:rPr>
              <a:t>These limitations were noted explicitly in the GitHub PR review process and accepted as documented constraints, not silent gaps.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1F2D5C"/>
                </a:solidFill>
                <a:latin typeface="Calibri"/>
              </a:rPr>
              <a:t>Future Directions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55C66"/>
                </a:solidFill>
                <a:latin typeface="Calibri"/>
              </a:rPr>
              <a:t>From a coursework prototype to a clinical research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86F82"/>
                </a:solidFill>
                <a:latin typeface="Calibri"/>
              </a:rPr>
              <a:t>Future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Incident-only model</a:t>
            </a:r>
            <a:r>
              <a:rPr sz="1300" b="0">
                <a:solidFill>
                  <a:srgbClr val="1F2D5C"/>
                </a:solidFill>
                <a:latin typeface="Calibri"/>
              </a:rPr>
              <a:t>  exclude already-depressed at baseline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External validation</a:t>
            </a:r>
            <a:r>
              <a:rPr sz="1300" b="0">
                <a:solidFill>
                  <a:srgbClr val="1F2D5C"/>
                </a:solidFill>
                <a:latin typeface="Calibri"/>
              </a:rPr>
              <a:t>  HRS (US), SHARE (EU), TILDA (Ireland)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Biomarkers</a:t>
            </a:r>
            <a:r>
              <a:rPr sz="1300" b="0">
                <a:solidFill>
                  <a:srgbClr val="1F2D5C"/>
                </a:solidFill>
                <a:latin typeface="Calibri"/>
              </a:rPr>
              <a:t>  add ELSA nurse-visit blood data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Trajectory models</a:t>
            </a:r>
            <a:r>
              <a:rPr sz="1300" b="0">
                <a:solidFill>
                  <a:srgbClr val="1F2D5C"/>
                </a:solidFill>
                <a:latin typeface="Calibri"/>
              </a:rPr>
              <a:t>  RNNs across many waves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Fairness audit</a:t>
            </a:r>
            <a:r>
              <a:rPr sz="1300" b="0">
                <a:solidFill>
                  <a:srgbClr val="1F2D5C"/>
                </a:solidFill>
                <a:latin typeface="Calibri"/>
              </a:rPr>
              <a:t>  calibration across subgroups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Cost-effectiveness</a:t>
            </a:r>
            <a:r>
              <a:rPr sz="1300" b="0">
                <a:solidFill>
                  <a:srgbClr val="1F2D5C"/>
                </a:solidFill>
                <a:latin typeface="Calibri"/>
              </a:rPr>
              <a:t>  QALY analysis with intervention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E56B5C"/>
                </a:solidFill>
                <a:latin typeface="Calibri"/>
              </a:rPr>
              <a:t>Take-home messages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RQ1</a:t>
            </a:r>
            <a:r>
              <a:rPr sz="1300" b="0">
                <a:solidFill>
                  <a:srgbClr val="1F2D5C"/>
                </a:solidFill>
                <a:latin typeface="Calibri"/>
              </a:rPr>
              <a:t>  AUC 0.85 = clinically useful early prediction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RQ2</a:t>
            </a:r>
            <a:r>
              <a:rPr sz="1300" b="0">
                <a:solidFill>
                  <a:srgbClr val="1F2D5C"/>
                </a:solidFill>
                <a:latin typeface="Calibri"/>
              </a:rPr>
              <a:t>  Two waves &gt; one, but recent snapshot ≈ combined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1F2D5C"/>
                </a:solidFill>
                <a:latin typeface="Calibri"/>
              </a:rPr>
              <a:t>RQ3</a:t>
            </a:r>
            <a:r>
              <a:rPr sz="1300" b="0">
                <a:solidFill>
                  <a:srgbClr val="1F2D5C"/>
                </a:solidFill>
                <a:latin typeface="Calibri"/>
              </a:rPr>
              <a:t>  Non-mental-health features carry independent signal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1F2D5C"/>
                </a:solidFill>
                <a:latin typeface="Calibri"/>
              </a:rPr>
              <a:t>• Routine over-50 health-check data could feed this model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394960"/>
            <a:ext cx="11247120" cy="1005840"/>
          </a:xfrm>
          <a:prstGeom prst="rect">
            <a:avLst/>
          </a:prstGeom>
          <a:solidFill>
            <a:srgbClr val="1F2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E56B5C"/>
                </a:solidFill>
                <a:latin typeface="Calibri"/>
              </a:rPr>
              <a:t>In one sentence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Routine survey data can flag future depression with clinically useful accuracy 2–4 years in advance — even without using depression history at all.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C66"/>
                </a:solidFill>
                <a:latin typeface="Calibri"/>
              </a:rPr>
              <a:t>ELSA Depression Prediction  |  AI &amp; Healthcare  |  University of Surrey  2025/26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C66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